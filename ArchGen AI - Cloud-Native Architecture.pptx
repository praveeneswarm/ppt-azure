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3669" y="11167198"/>
            <a:ext cx="848141" cy="1413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10273" y="7806045"/>
            <a:ext cx="6997700" cy="1052830"/>
          </a:xfrm>
          <a:custGeom>
            <a:avLst/>
            <a:gdLst/>
            <a:ahLst/>
            <a:cxnLst/>
            <a:rect l="l" t="t" r="r" b="b"/>
            <a:pathLst>
              <a:path w="6997700" h="1052829">
                <a:moveTo>
                  <a:pt x="6997169" y="1052324"/>
                </a:moveTo>
                <a:lnTo>
                  <a:pt x="0" y="1052324"/>
                </a:lnTo>
                <a:lnTo>
                  <a:pt x="0" y="0"/>
                </a:lnTo>
                <a:lnTo>
                  <a:pt x="6997169" y="0"/>
                </a:lnTo>
                <a:lnTo>
                  <a:pt x="6997169" y="1052324"/>
                </a:lnTo>
                <a:close/>
              </a:path>
            </a:pathLst>
          </a:custGeom>
          <a:solidFill>
            <a:srgbClr val="001F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666" y="823007"/>
            <a:ext cx="12275440" cy="899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378" y="4029978"/>
            <a:ext cx="14690090" cy="395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Relationship Id="rId4" Type="http://schemas.openxmlformats.org/officeDocument/2006/relationships/hyperlink" Target="https://learn.microsoft.com/en-us/azure/architecture/example-scenario/aks-agic/media/aks-agic.svg" TargetMode="External"/><Relationship Id="rId5" Type="http://schemas.openxmlformats.org/officeDocument/2006/relationships/hyperlink" Target="https://cdn.jsdeIivr.net/gh/homarr-labs/dashboard-icons/png/hashicorp-terraform.png" TargetMode="External"/><Relationship Id="rId6" Type="http://schemas.openxmlformats.org/officeDocument/2006/relationships/hyperlink" Target="https://www.slideegg.com/image/catalog/20627-cyber-security-powerpoint-template-blue.png" TargetMode="External"/><Relationship Id="rId7" Type="http://schemas.openxmlformats.org/officeDocument/2006/relationships/hyperlink" Target="http://www.sIideegg.com/" TargetMode="External"/><Relationship Id="rId8" Type="http://schemas.openxmlformats.org/officeDocument/2006/relationships/hyperlink" Target="https://site-cdn.core.nytro.ai/static/media/0d7d1ba7-ab56-4dbe-bc7a-e14d91817abf.jpeg?_cb=1695736567.462956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0828" y="1624030"/>
            <a:ext cx="6876415" cy="1576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150" spc="110">
                <a:solidFill>
                  <a:srgbClr val="0079D8"/>
                </a:solidFill>
              </a:rPr>
              <a:t>ArchGen</a:t>
            </a:r>
            <a:r>
              <a:rPr dirty="0" sz="10150" spc="375">
                <a:solidFill>
                  <a:srgbClr val="0079D8"/>
                </a:solidFill>
              </a:rPr>
              <a:t> </a:t>
            </a:r>
            <a:r>
              <a:rPr dirty="0" sz="10150" spc="60">
                <a:solidFill>
                  <a:srgbClr val="0177D1"/>
                </a:solidFill>
              </a:rPr>
              <a:t>AI</a:t>
            </a:r>
            <a:endParaRPr sz="10150"/>
          </a:p>
        </p:txBody>
      </p:sp>
      <p:sp>
        <p:nvSpPr>
          <p:cNvPr id="4" name="object 4"/>
          <p:cNvSpPr txBox="1"/>
          <p:nvPr/>
        </p:nvSpPr>
        <p:spPr>
          <a:xfrm>
            <a:off x="3373569" y="3527113"/>
            <a:ext cx="13335635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30">
                <a:solidFill>
                  <a:srgbClr val="212121"/>
                </a:solidFill>
                <a:latin typeface="Arial MT"/>
                <a:cs typeface="Arial MT"/>
              </a:rPr>
              <a:t>Cloud-</a:t>
            </a:r>
            <a:r>
              <a:rPr dirty="0" sz="3450">
                <a:solidFill>
                  <a:srgbClr val="212121"/>
                </a:solidFill>
                <a:latin typeface="Arial MT"/>
                <a:cs typeface="Arial MT"/>
              </a:rPr>
              <a:t>Native</a:t>
            </a:r>
            <a:r>
              <a:rPr dirty="0" sz="3450" spc="-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dirty="0" sz="3450" spc="-2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12121"/>
                </a:solidFill>
                <a:latin typeface="Arial MT"/>
                <a:cs typeface="Arial MT"/>
              </a:rPr>
              <a:t>Architecture</a:t>
            </a:r>
            <a:r>
              <a:rPr dirty="0" sz="34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32323"/>
                </a:solidFill>
                <a:latin typeface="Arial MT"/>
                <a:cs typeface="Arial MT"/>
              </a:rPr>
              <a:t>Generation</a:t>
            </a:r>
            <a:r>
              <a:rPr dirty="0" sz="3450" spc="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1D1D1D"/>
                </a:solidFill>
                <a:latin typeface="Arial MT"/>
                <a:cs typeface="Arial MT"/>
              </a:rPr>
              <a:t>Platform</a:t>
            </a:r>
            <a:r>
              <a:rPr dirty="0" sz="3450" spc="-2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82828"/>
                </a:solidFill>
                <a:latin typeface="Arial MT"/>
                <a:cs typeface="Arial MT"/>
              </a:rPr>
              <a:t>on</a:t>
            </a:r>
            <a:r>
              <a:rPr dirty="0" sz="3450" spc="-18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42424"/>
                </a:solidFill>
                <a:latin typeface="Arial MT"/>
                <a:cs typeface="Arial MT"/>
              </a:rPr>
              <a:t>Microsoft</a:t>
            </a:r>
            <a:r>
              <a:rPr dirty="0" sz="3450" spc="-13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0541" y="5424307"/>
            <a:ext cx="5847715" cy="1675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83870">
              <a:lnSpc>
                <a:spcPct val="100000"/>
              </a:lnSpc>
              <a:spcBef>
                <a:spcPts val="125"/>
              </a:spcBef>
            </a:pPr>
            <a:r>
              <a:rPr dirty="0" sz="2550" spc="-75">
                <a:solidFill>
                  <a:srgbClr val="1A1A1A"/>
                </a:solidFill>
                <a:latin typeface="Arial MT"/>
                <a:cs typeface="Arial MT"/>
              </a:rPr>
              <a:t>Cloud-</a:t>
            </a:r>
            <a:r>
              <a:rPr dirty="0" sz="2550" spc="-20">
                <a:solidFill>
                  <a:srgbClr val="1A1A1A"/>
                </a:solidFill>
                <a:latin typeface="Arial MT"/>
                <a:cs typeface="Arial MT"/>
              </a:rPr>
              <a:t>Native</a:t>
            </a:r>
            <a:r>
              <a:rPr dirty="0" sz="255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dirty="0" sz="2550" spc="-114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endParaRPr sz="2550">
              <a:latin typeface="Arial MT"/>
              <a:cs typeface="Arial MT"/>
            </a:endParaRPr>
          </a:p>
          <a:p>
            <a:pPr marL="12700" marR="5080" indent="464820">
              <a:lnSpc>
                <a:spcPts val="4950"/>
              </a:lnSpc>
              <a:spcBef>
                <a:spcPts val="275"/>
              </a:spcBef>
              <a:tabLst>
                <a:tab pos="485140" algn="l"/>
              </a:tabLst>
            </a:pP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Infrastructure</a:t>
            </a:r>
            <a:r>
              <a:rPr dirty="0" sz="2550" spc="-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dirty="0" sz="2550" spc="-1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12121"/>
                </a:solidFill>
                <a:latin typeface="Arial MT"/>
                <a:cs typeface="Arial MT"/>
              </a:rPr>
              <a:t>Code</a:t>
            </a:r>
            <a:r>
              <a:rPr dirty="0" sz="2550" spc="-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1D1D1D"/>
                </a:solidFill>
                <a:latin typeface="Arial MT"/>
                <a:cs typeface="Arial MT"/>
              </a:rPr>
              <a:t>using</a:t>
            </a:r>
            <a:r>
              <a:rPr dirty="0" sz="2550" spc="-10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161616"/>
                </a:solidFill>
                <a:latin typeface="Arial MT"/>
                <a:cs typeface="Arial MT"/>
              </a:rPr>
              <a:t>Terraform </a:t>
            </a:r>
            <a:r>
              <a:rPr dirty="0" sz="2550" spc="-50">
                <a:solidFill>
                  <a:srgbClr val="0070E8"/>
                </a:solidFill>
                <a:latin typeface="Arial MT"/>
                <a:cs typeface="Arial MT"/>
              </a:rPr>
              <a:t>w</a:t>
            </a:r>
            <a:r>
              <a:rPr dirty="0" sz="2550">
                <a:solidFill>
                  <a:srgbClr val="0070E8"/>
                </a:solidFill>
                <a:latin typeface="Arial MT"/>
                <a:cs typeface="Arial MT"/>
              </a:rPr>
              <a:t>	</a:t>
            </a:r>
            <a:r>
              <a:rPr dirty="0" sz="2550" spc="-4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dirty="0" sz="2550" spc="-14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Arial MT"/>
                <a:cs typeface="Arial MT"/>
              </a:rPr>
              <a:t>App</a:t>
            </a:r>
            <a:r>
              <a:rPr dirty="0" sz="2550" spc="-12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Services</a:t>
            </a:r>
            <a:r>
              <a:rPr dirty="0" sz="255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1F1F1F"/>
                </a:solidFill>
                <a:latin typeface="Arial MT"/>
                <a:cs typeface="Arial MT"/>
              </a:rPr>
              <a:t>&amp;</a:t>
            </a:r>
            <a:r>
              <a:rPr dirty="0" sz="2550" spc="-18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1F1F1F"/>
                </a:solidFill>
                <a:latin typeface="Arial MT"/>
                <a:cs typeface="Arial MT"/>
              </a:rPr>
              <a:t>Cosmos</a:t>
            </a:r>
            <a:r>
              <a:rPr dirty="0" sz="2550" spc="-10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A2A2A"/>
                </a:solidFill>
                <a:latin typeface="Arial MT"/>
                <a:cs typeface="Arial MT"/>
              </a:rPr>
              <a:t>DB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9405" y="5416453"/>
            <a:ext cx="5881370" cy="1675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dirty="0" sz="2550" spc="-25">
                <a:solidFill>
                  <a:srgbClr val="212121"/>
                </a:solidFill>
                <a:latin typeface="Arial MT"/>
                <a:cs typeface="Arial MT"/>
              </a:rPr>
              <a:t>Ollama</a:t>
            </a:r>
            <a:r>
              <a:rPr dirty="0" sz="2550" spc="-1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dirty="0" sz="2550" spc="-1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65">
                <a:solidFill>
                  <a:srgbClr val="2B2B2B"/>
                </a:solidFill>
                <a:latin typeface="Arial MT"/>
                <a:cs typeface="Arial MT"/>
              </a:rPr>
              <a:t>on</a:t>
            </a:r>
            <a:r>
              <a:rPr dirty="0" sz="2550" spc="-13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151515"/>
                </a:solidFill>
                <a:latin typeface="Arial MT"/>
                <a:cs typeface="Arial MT"/>
              </a:rPr>
              <a:t>Azure</a:t>
            </a:r>
            <a:r>
              <a:rPr dirty="0" sz="2550" spc="-8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12121"/>
                </a:solidFill>
                <a:latin typeface="Arial MT"/>
                <a:cs typeface="Arial MT"/>
              </a:rPr>
              <a:t>VM</a:t>
            </a:r>
            <a:endParaRPr sz="2550">
              <a:latin typeface="Arial MT"/>
              <a:cs typeface="Arial MT"/>
            </a:endParaRPr>
          </a:p>
          <a:p>
            <a:pPr marL="12700" marR="5080" indent="3175">
              <a:lnSpc>
                <a:spcPts val="4950"/>
              </a:lnSpc>
              <a:spcBef>
                <a:spcPts val="275"/>
              </a:spcBef>
            </a:pPr>
            <a:r>
              <a:rPr dirty="0" sz="2550" spc="-30">
                <a:solidFill>
                  <a:srgbClr val="1A1A1A"/>
                </a:solidFill>
                <a:latin typeface="Arial MT"/>
                <a:cs typeface="Arial MT"/>
              </a:rPr>
              <a:t>Secure</a:t>
            </a:r>
            <a:r>
              <a:rPr dirty="0" sz="2550" spc="-1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282828"/>
                </a:solidFill>
                <a:latin typeface="Arial MT"/>
                <a:cs typeface="Arial MT"/>
              </a:rPr>
              <a:t>Networking</a:t>
            </a:r>
            <a:r>
              <a:rPr dirty="0" sz="2550" spc="-2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62626"/>
                </a:solidFill>
                <a:latin typeface="Arial MT"/>
                <a:cs typeface="Arial MT"/>
              </a:rPr>
              <a:t>&amp;</a:t>
            </a:r>
            <a:r>
              <a:rPr dirty="0" sz="2550" spc="-17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232323"/>
                </a:solidFill>
                <a:latin typeface="Arial MT"/>
                <a:cs typeface="Arial MT"/>
              </a:rPr>
              <a:t>Application</a:t>
            </a:r>
            <a:r>
              <a:rPr dirty="0" sz="2550" spc="-3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55">
                <a:solidFill>
                  <a:srgbClr val="1D1D1D"/>
                </a:solidFill>
                <a:latin typeface="Arial MT"/>
                <a:cs typeface="Arial MT"/>
              </a:rPr>
              <a:t>Gateway </a:t>
            </a:r>
            <a:r>
              <a:rPr dirty="0" sz="2550" spc="-45">
                <a:solidFill>
                  <a:srgbClr val="161616"/>
                </a:solidFill>
                <a:latin typeface="Arial MT"/>
                <a:cs typeface="Arial MT"/>
              </a:rPr>
              <a:t>Enterprise-</a:t>
            </a:r>
            <a:r>
              <a:rPr dirty="0" sz="2550" spc="-25">
                <a:solidFill>
                  <a:srgbClr val="161616"/>
                </a:solidFill>
                <a:latin typeface="Arial MT"/>
                <a:cs typeface="Arial MT"/>
              </a:rPr>
              <a:t>Grade</a:t>
            </a:r>
            <a:r>
              <a:rPr dirty="0" sz="2550" spc="-1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550" spc="-60">
                <a:solidFill>
                  <a:srgbClr val="282828"/>
                </a:solidFill>
                <a:latin typeface="Arial MT"/>
                <a:cs typeface="Arial MT"/>
              </a:rPr>
              <a:t>WAF</a:t>
            </a:r>
            <a:r>
              <a:rPr dirty="0" sz="2550" spc="-3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C1C1C"/>
                </a:solidFill>
                <a:latin typeface="Arial MT"/>
                <a:cs typeface="Arial MT"/>
              </a:rPr>
              <a:t>Protection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8048" y="8485478"/>
            <a:ext cx="4465955" cy="95504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20"/>
              </a:spcBef>
            </a:pPr>
            <a:r>
              <a:rPr dirty="0" sz="2450" spc="45">
                <a:solidFill>
                  <a:srgbClr val="007EF4"/>
                </a:solidFill>
                <a:latin typeface="Arial MT"/>
                <a:cs typeface="Arial MT"/>
              </a:rPr>
              <a:t>Praveen</a:t>
            </a:r>
            <a:r>
              <a:rPr dirty="0" sz="2450" spc="90">
                <a:solidFill>
                  <a:srgbClr val="007EF4"/>
                </a:solidFill>
                <a:latin typeface="Arial MT"/>
                <a:cs typeface="Arial MT"/>
              </a:rPr>
              <a:t> </a:t>
            </a:r>
            <a:r>
              <a:rPr dirty="0" sz="2450" spc="40">
                <a:solidFill>
                  <a:srgbClr val="007CD6"/>
                </a:solidFill>
                <a:latin typeface="Arial MT"/>
                <a:cs typeface="Arial MT"/>
              </a:rPr>
              <a:t>Eswar</a:t>
            </a: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dirty="0" sz="2300" spc="-60">
                <a:solidFill>
                  <a:srgbClr val="1C1C1C"/>
                </a:solidFill>
                <a:latin typeface="Arial MT"/>
                <a:cs typeface="Arial MT"/>
              </a:rPr>
              <a:t>DevOps</a:t>
            </a:r>
            <a:r>
              <a:rPr dirty="0" sz="2300" spc="-6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300" spc="-40">
                <a:solidFill>
                  <a:srgbClr val="232323"/>
                </a:solidFill>
                <a:latin typeface="Arial MT"/>
                <a:cs typeface="Arial MT"/>
              </a:rPr>
              <a:t>Trainee </a:t>
            </a:r>
            <a:r>
              <a:rPr dirty="0" baseline="-8454" sz="3450">
                <a:solidFill>
                  <a:srgbClr val="262626"/>
                </a:solidFill>
                <a:latin typeface="Arial MT"/>
                <a:cs typeface="Arial MT"/>
              </a:rPr>
              <a:t>I</a:t>
            </a:r>
            <a:r>
              <a:rPr dirty="0" baseline="-8454" sz="3450" spc="-217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300" spc="-35">
                <a:solidFill>
                  <a:srgbClr val="232323"/>
                </a:solidFill>
                <a:latin typeface="Arial MT"/>
                <a:cs typeface="Arial MT"/>
              </a:rPr>
              <a:t>Cloud</a:t>
            </a:r>
            <a:r>
              <a:rPr dirty="0" sz="2300" spc="-10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F1F1F"/>
                </a:solidFill>
                <a:latin typeface="Arial MT"/>
                <a:cs typeface="Arial MT"/>
              </a:rPr>
              <a:t>Enthusiast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5205" y="6895078"/>
            <a:ext cx="5717540" cy="86995"/>
            <a:chOff x="1005205" y="6895078"/>
            <a:chExt cx="5717540" cy="86995"/>
          </a:xfrm>
        </p:grpSpPr>
        <p:sp>
          <p:nvSpPr>
            <p:cNvPr id="4" name="object 4"/>
            <p:cNvSpPr/>
            <p:nvPr/>
          </p:nvSpPr>
          <p:spPr>
            <a:xfrm>
              <a:off x="1005205" y="6969683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 h="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8764" y="6906858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 h="0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240616" y="6895078"/>
            <a:ext cx="5701665" cy="86995"/>
            <a:chOff x="7240616" y="6895078"/>
            <a:chExt cx="5701665" cy="86995"/>
          </a:xfrm>
        </p:grpSpPr>
        <p:sp>
          <p:nvSpPr>
            <p:cNvPr id="7" name="object 7"/>
            <p:cNvSpPr/>
            <p:nvPr/>
          </p:nvSpPr>
          <p:spPr>
            <a:xfrm>
              <a:off x="7240616" y="6969683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 h="0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264176" y="6906858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 h="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05205" y="2308830"/>
            <a:ext cx="5717540" cy="86995"/>
            <a:chOff x="1005205" y="2308830"/>
            <a:chExt cx="5717540" cy="86995"/>
          </a:xfrm>
        </p:grpSpPr>
        <p:sp>
          <p:nvSpPr>
            <p:cNvPr id="10" name="object 10"/>
            <p:cNvSpPr/>
            <p:nvPr/>
          </p:nvSpPr>
          <p:spPr>
            <a:xfrm>
              <a:off x="1005205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 h="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8764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 h="0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7240616" y="2308830"/>
            <a:ext cx="5701665" cy="86995"/>
            <a:chOff x="7240616" y="2308830"/>
            <a:chExt cx="5701665" cy="86995"/>
          </a:xfrm>
        </p:grpSpPr>
        <p:sp>
          <p:nvSpPr>
            <p:cNvPr id="13" name="object 13"/>
            <p:cNvSpPr/>
            <p:nvPr/>
          </p:nvSpPr>
          <p:spPr>
            <a:xfrm>
              <a:off x="7240616" y="2383435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 h="0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64176" y="2320609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 h="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3460322" y="2308830"/>
            <a:ext cx="5717540" cy="86995"/>
            <a:chOff x="13460322" y="2308830"/>
            <a:chExt cx="5717540" cy="86995"/>
          </a:xfrm>
        </p:grpSpPr>
        <p:sp>
          <p:nvSpPr>
            <p:cNvPr id="16" name="object 16"/>
            <p:cNvSpPr/>
            <p:nvPr/>
          </p:nvSpPr>
          <p:spPr>
            <a:xfrm>
              <a:off x="13460322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 h="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483882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 h="0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76540" y="7444799"/>
            <a:ext cx="628253" cy="62825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84394" y="2842845"/>
            <a:ext cx="612546" cy="6596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863" y="2842845"/>
            <a:ext cx="816729" cy="62825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7863" y="7429093"/>
            <a:ext cx="659665" cy="6596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7569" y="7460505"/>
            <a:ext cx="753903" cy="5968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33275" y="2842845"/>
            <a:ext cx="801022" cy="659665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048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baseline="-9169" sz="7725" b="1">
                <a:solidFill>
                  <a:srgbClr val="03BAEF"/>
                </a:solidFill>
                <a:latin typeface="Arial"/>
                <a:cs typeface="Arial"/>
              </a:rPr>
              <a:t>I</a:t>
            </a:r>
            <a:r>
              <a:rPr dirty="0" baseline="-9169" sz="7725" spc="997" b="1">
                <a:solidFill>
                  <a:srgbClr val="03BAEF"/>
                </a:solidFill>
                <a:latin typeface="Arial"/>
                <a:cs typeface="Arial"/>
              </a:rPr>
              <a:t> </a:t>
            </a:r>
            <a:r>
              <a:rPr dirty="0" sz="5150" b="1">
                <a:solidFill>
                  <a:srgbClr val="007BD8"/>
                </a:solidFill>
                <a:latin typeface="Arial"/>
                <a:cs typeface="Arial"/>
              </a:rPr>
              <a:t>Cloud</a:t>
            </a:r>
            <a:r>
              <a:rPr dirty="0" sz="5150" spc="340" b="1">
                <a:solidFill>
                  <a:srgbClr val="007BD8"/>
                </a:solidFill>
                <a:latin typeface="Arial"/>
                <a:cs typeface="Arial"/>
              </a:rPr>
              <a:t> </a:t>
            </a:r>
            <a:r>
              <a:rPr dirty="0" sz="5150" b="1">
                <a:solidFill>
                  <a:srgbClr val="0177CF"/>
                </a:solidFill>
                <a:latin typeface="Arial"/>
                <a:cs typeface="Arial"/>
              </a:rPr>
              <a:t>Implementation</a:t>
            </a:r>
            <a:r>
              <a:rPr dirty="0" sz="5150" spc="-20" b="1">
                <a:solidFill>
                  <a:srgbClr val="0177CF"/>
                </a:solidFill>
                <a:latin typeface="Arial"/>
                <a:cs typeface="Arial"/>
              </a:rPr>
              <a:t> </a:t>
            </a:r>
            <a:r>
              <a:rPr dirty="0" sz="5150" spc="-10" b="1">
                <a:solidFill>
                  <a:srgbClr val="0377D1"/>
                </a:solidFill>
                <a:latin typeface="Arial"/>
                <a:cs typeface="Arial"/>
              </a:rPr>
              <a:t>Objectives</a:t>
            </a:r>
            <a:endParaRPr sz="5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5005" y="3820298"/>
            <a:ext cx="4480560" cy="2085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b="1">
                <a:solidFill>
                  <a:srgbClr val="001649"/>
                </a:solidFill>
                <a:latin typeface="Arial"/>
                <a:cs typeface="Arial"/>
              </a:rPr>
              <a:t>SaaS</a:t>
            </a:r>
            <a:r>
              <a:rPr dirty="0" sz="2950" spc="25" b="1">
                <a:solidFill>
                  <a:srgbClr val="001649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01A60"/>
                </a:solidFill>
                <a:latin typeface="Arial"/>
                <a:cs typeface="Arial"/>
              </a:rPr>
              <a:t>Scalability</a:t>
            </a:r>
            <a:endParaRPr sz="2950">
              <a:latin typeface="Arial"/>
              <a:cs typeface="Arial"/>
            </a:endParaRPr>
          </a:p>
          <a:p>
            <a:pPr marL="12700" marR="5080" indent="5080">
              <a:lnSpc>
                <a:spcPct val="121200"/>
              </a:lnSpc>
              <a:spcBef>
                <a:spcPts val="1530"/>
              </a:spcBef>
            </a:pPr>
            <a:r>
              <a:rPr dirty="0" sz="2550" spc="-20">
                <a:solidFill>
                  <a:srgbClr val="262626"/>
                </a:solidFill>
                <a:latin typeface="Arial MT"/>
                <a:cs typeface="Arial MT"/>
              </a:rPr>
              <a:t>Build</a:t>
            </a:r>
            <a:r>
              <a:rPr dirty="0" sz="2550" spc="-17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14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dirty="0" sz="2550" spc="-18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scalable</a:t>
            </a:r>
            <a:r>
              <a:rPr dirty="0" sz="25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70">
                <a:solidFill>
                  <a:srgbClr val="1C1C1C"/>
                </a:solidFill>
                <a:latin typeface="Arial MT"/>
                <a:cs typeface="Arial MT"/>
              </a:rPr>
              <a:t>cloud-</a:t>
            </a:r>
            <a:r>
              <a:rPr dirty="0" sz="2550" spc="-10">
                <a:solidFill>
                  <a:srgbClr val="1C1C1C"/>
                </a:solidFill>
                <a:latin typeface="Arial MT"/>
                <a:cs typeface="Arial MT"/>
              </a:rPr>
              <a:t>native </a:t>
            </a:r>
            <a:r>
              <a:rPr dirty="0" sz="2550" spc="-20">
                <a:solidFill>
                  <a:srgbClr val="1F1F1F"/>
                </a:solidFill>
                <a:latin typeface="Arial MT"/>
                <a:cs typeface="Arial MT"/>
              </a:rPr>
              <a:t>platform</a:t>
            </a:r>
            <a:r>
              <a:rPr dirty="0" sz="2550" spc="-1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262626"/>
                </a:solidFill>
                <a:latin typeface="Arial MT"/>
                <a:cs typeface="Arial MT"/>
              </a:rPr>
              <a:t>using</a:t>
            </a:r>
            <a:r>
              <a:rPr dirty="0" sz="2550" spc="-13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1F1F1F"/>
                </a:solidFill>
                <a:latin typeface="Arial MT"/>
                <a:cs typeface="Arial MT"/>
              </a:rPr>
              <a:t>Azure's</a:t>
            </a:r>
            <a:r>
              <a:rPr dirty="0" sz="255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80">
                <a:solidFill>
                  <a:srgbClr val="212121"/>
                </a:solidFill>
                <a:latin typeface="Arial MT"/>
                <a:cs typeface="Arial MT"/>
              </a:rPr>
              <a:t>managed </a:t>
            </a:r>
            <a:r>
              <a:rPr dirty="0" sz="2550" spc="-25">
                <a:solidFill>
                  <a:srgbClr val="1F1F1F"/>
                </a:solidFill>
                <a:latin typeface="Arial MT"/>
                <a:cs typeface="Arial MT"/>
              </a:rPr>
              <a:t>services</a:t>
            </a:r>
            <a:r>
              <a:rPr dirty="0" sz="2550" spc="-1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dirty="0" sz="2550" spc="-11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1C1C1C"/>
                </a:solidFill>
                <a:latin typeface="Arial MT"/>
                <a:cs typeface="Arial MT"/>
              </a:rPr>
              <a:t>elastic</a:t>
            </a:r>
            <a:r>
              <a:rPr dirty="0" sz="2550" spc="-11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82828"/>
                </a:solidFill>
                <a:latin typeface="Arial MT"/>
                <a:cs typeface="Arial MT"/>
              </a:rPr>
              <a:t>growth.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6738" y="8398692"/>
            <a:ext cx="4279265" cy="2092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10"/>
              </a:spcBef>
            </a:pPr>
            <a:r>
              <a:rPr dirty="0" sz="2950" b="1">
                <a:solidFill>
                  <a:srgbClr val="032459"/>
                </a:solidFill>
                <a:latin typeface="Arial"/>
                <a:cs typeface="Arial"/>
              </a:rPr>
              <a:t>AI</a:t>
            </a:r>
            <a:r>
              <a:rPr dirty="0" sz="2950" spc="-90" b="1">
                <a:solidFill>
                  <a:srgbClr val="032459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C2352"/>
                </a:solidFill>
                <a:latin typeface="Arial"/>
                <a:cs typeface="Arial"/>
              </a:rPr>
              <a:t>Workloads</a:t>
            </a:r>
            <a:endParaRPr sz="2950">
              <a:latin typeface="Arial"/>
              <a:cs typeface="Arial"/>
            </a:endParaRPr>
          </a:p>
          <a:p>
            <a:pPr marL="12700" marR="5080" indent="1270">
              <a:lnSpc>
                <a:spcPct val="121200"/>
              </a:lnSpc>
              <a:spcBef>
                <a:spcPts val="1590"/>
              </a:spcBef>
            </a:pPr>
            <a:r>
              <a:rPr dirty="0" sz="2550">
                <a:solidFill>
                  <a:srgbClr val="242424"/>
                </a:solidFill>
                <a:latin typeface="Arial MT"/>
                <a:cs typeface="Arial MT"/>
              </a:rPr>
              <a:t>Host</a:t>
            </a:r>
            <a:r>
              <a:rPr dirty="0" sz="2550" spc="-1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dirty="0" sz="2550" spc="-18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32323"/>
                </a:solidFill>
                <a:latin typeface="Arial MT"/>
                <a:cs typeface="Arial MT"/>
              </a:rPr>
              <a:t>manage</a:t>
            </a:r>
            <a:r>
              <a:rPr dirty="0" sz="2550" spc="-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32323"/>
                </a:solidFill>
                <a:latin typeface="Arial MT"/>
                <a:cs typeface="Arial MT"/>
              </a:rPr>
              <a:t>Ollama</a:t>
            </a:r>
            <a:r>
              <a:rPr dirty="0" sz="2550" spc="-1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60">
                <a:solidFill>
                  <a:srgbClr val="232323"/>
                </a:solidFill>
                <a:latin typeface="Arial MT"/>
                <a:cs typeface="Arial MT"/>
              </a:rPr>
              <a:t>LLM </a:t>
            </a: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effectively</a:t>
            </a:r>
            <a:r>
              <a:rPr dirty="0" sz="25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42424"/>
                </a:solidFill>
                <a:latin typeface="Arial MT"/>
                <a:cs typeface="Arial MT"/>
              </a:rPr>
              <a:t>on</a:t>
            </a:r>
            <a:r>
              <a:rPr dirty="0" sz="2550" spc="-1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1A1A1A"/>
                </a:solidFill>
                <a:latin typeface="Arial MT"/>
                <a:cs typeface="Arial MT"/>
              </a:rPr>
              <a:t>optimized</a:t>
            </a:r>
            <a:r>
              <a:rPr dirty="0" sz="2550" spc="-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Arial MT"/>
                <a:cs typeface="Arial MT"/>
              </a:rPr>
              <a:t>Azure </a:t>
            </a:r>
            <a:r>
              <a:rPr dirty="0" sz="2550" spc="-25">
                <a:solidFill>
                  <a:srgbClr val="1F1F1F"/>
                </a:solidFill>
                <a:latin typeface="Arial MT"/>
                <a:cs typeface="Arial MT"/>
              </a:rPr>
              <a:t>Virtual</a:t>
            </a:r>
            <a:r>
              <a:rPr dirty="0" sz="2550" spc="-1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Arial MT"/>
                <a:cs typeface="Arial MT"/>
              </a:rPr>
              <a:t>Machines.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26102" y="3820298"/>
            <a:ext cx="4744085" cy="2085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b="1">
                <a:solidFill>
                  <a:srgbClr val="002356"/>
                </a:solidFill>
                <a:latin typeface="Arial"/>
                <a:cs typeface="Arial"/>
              </a:rPr>
              <a:t>IaC</a:t>
            </a:r>
            <a:r>
              <a:rPr dirty="0" sz="2950" spc="15" b="1">
                <a:solidFill>
                  <a:srgbClr val="002356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01D52"/>
                </a:solidFill>
                <a:latin typeface="Arial"/>
                <a:cs typeface="Arial"/>
              </a:rPr>
              <a:t>Automation</a:t>
            </a:r>
            <a:endParaRPr sz="2950">
              <a:latin typeface="Arial"/>
              <a:cs typeface="Arial"/>
            </a:endParaRPr>
          </a:p>
          <a:p>
            <a:pPr marL="17145" marR="5080" indent="-5080">
              <a:lnSpc>
                <a:spcPct val="121200"/>
              </a:lnSpc>
              <a:spcBef>
                <a:spcPts val="1530"/>
              </a:spcBef>
            </a:pPr>
            <a:r>
              <a:rPr dirty="0" sz="2550" spc="-35">
                <a:solidFill>
                  <a:srgbClr val="1C1C1C"/>
                </a:solidFill>
                <a:latin typeface="Arial MT"/>
                <a:cs typeface="Arial MT"/>
              </a:rPr>
              <a:t>Eliminate</a:t>
            </a:r>
            <a:r>
              <a:rPr dirty="0" sz="2550" spc="-7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242424"/>
                </a:solidFill>
                <a:latin typeface="Arial MT"/>
                <a:cs typeface="Arial MT"/>
              </a:rPr>
              <a:t>manual</a:t>
            </a:r>
            <a:r>
              <a:rPr dirty="0" sz="2550" spc="-114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212121"/>
                </a:solidFill>
                <a:latin typeface="Arial MT"/>
                <a:cs typeface="Arial MT"/>
              </a:rPr>
              <a:t>configuration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82828"/>
                </a:solidFill>
                <a:latin typeface="Arial MT"/>
                <a:cs typeface="Arial MT"/>
              </a:rPr>
              <a:t>by </a:t>
            </a:r>
            <a:r>
              <a:rPr dirty="0" sz="2550" spc="-40">
                <a:solidFill>
                  <a:srgbClr val="1F1F1F"/>
                </a:solidFill>
                <a:latin typeface="Arial MT"/>
                <a:cs typeface="Arial MT"/>
              </a:rPr>
              <a:t>automating</a:t>
            </a:r>
            <a:r>
              <a:rPr dirty="0" sz="255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dirty="0" sz="2550" spc="-15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1D1D1D"/>
                </a:solidFill>
                <a:latin typeface="Arial MT"/>
                <a:cs typeface="Arial MT"/>
              </a:rPr>
              <a:t>entire</a:t>
            </a:r>
            <a:r>
              <a:rPr dirty="0" sz="2550" spc="-12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F1F1F"/>
                </a:solidFill>
                <a:latin typeface="Arial MT"/>
                <a:cs typeface="Arial MT"/>
              </a:rPr>
              <a:t>resource </a:t>
            </a:r>
            <a:r>
              <a:rPr dirty="0" sz="2550" spc="-30">
                <a:solidFill>
                  <a:srgbClr val="1C1C1C"/>
                </a:solidFill>
                <a:latin typeface="Arial MT"/>
                <a:cs typeface="Arial MT"/>
              </a:rPr>
              <a:t>lifecycle</a:t>
            </a:r>
            <a:r>
              <a:rPr dirty="0" sz="2550" spc="-8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via</a:t>
            </a:r>
            <a:r>
              <a:rPr dirty="0" sz="2550" spc="-17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Terraform.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24795" y="8406546"/>
            <a:ext cx="4431030" cy="2085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b="1">
                <a:solidFill>
                  <a:srgbClr val="011F3D"/>
                </a:solidFill>
                <a:latin typeface="Arial"/>
                <a:cs typeface="Arial"/>
              </a:rPr>
              <a:t>Design</a:t>
            </a:r>
            <a:r>
              <a:rPr dirty="0" sz="2950" spc="55" b="1">
                <a:solidFill>
                  <a:srgbClr val="011F3D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012860"/>
                </a:solidFill>
                <a:latin typeface="Arial"/>
                <a:cs typeface="Arial"/>
              </a:rPr>
              <a:t>Consistency</a:t>
            </a:r>
            <a:endParaRPr sz="2950">
              <a:latin typeface="Arial"/>
              <a:cs typeface="Arial"/>
            </a:endParaRPr>
          </a:p>
          <a:p>
            <a:pPr marL="19050" marR="5080" indent="-2540">
              <a:lnSpc>
                <a:spcPct val="121200"/>
              </a:lnSpc>
              <a:spcBef>
                <a:spcPts val="1530"/>
              </a:spcBef>
            </a:pPr>
            <a:r>
              <a:rPr dirty="0" sz="2550" spc="-35">
                <a:solidFill>
                  <a:srgbClr val="1C1C1C"/>
                </a:solidFill>
                <a:latin typeface="Arial MT"/>
                <a:cs typeface="Arial MT"/>
              </a:rPr>
              <a:t>Improve</a:t>
            </a:r>
            <a:r>
              <a:rPr dirty="0" sz="2550" spc="-9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151515"/>
                </a:solidFill>
                <a:latin typeface="Arial MT"/>
                <a:cs typeface="Arial MT"/>
              </a:rPr>
              <a:t>deployment</a:t>
            </a:r>
            <a:r>
              <a:rPr dirty="0" sz="25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speed</a:t>
            </a:r>
            <a:r>
              <a:rPr dirty="0" sz="2550" spc="-1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2550" spc="-35">
                <a:solidFill>
                  <a:srgbClr val="212121"/>
                </a:solidFill>
                <a:latin typeface="Arial MT"/>
                <a:cs typeface="Arial MT"/>
              </a:rPr>
              <a:t>consistency</a:t>
            </a:r>
            <a:r>
              <a:rPr dirty="0" sz="25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232323"/>
                </a:solidFill>
                <a:latin typeface="Arial MT"/>
                <a:cs typeface="Arial MT"/>
              </a:rPr>
              <a:t>with</a:t>
            </a:r>
            <a:r>
              <a:rPr dirty="0" sz="2550" spc="-16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31313"/>
                </a:solidFill>
                <a:latin typeface="Arial MT"/>
                <a:cs typeface="Arial MT"/>
              </a:rPr>
              <a:t>reusable </a:t>
            </a:r>
            <a:r>
              <a:rPr dirty="0" sz="2550" spc="-40">
                <a:solidFill>
                  <a:srgbClr val="1A1A1A"/>
                </a:solidFill>
                <a:latin typeface="Arial MT"/>
                <a:cs typeface="Arial MT"/>
              </a:rPr>
              <a:t>architecture</a:t>
            </a:r>
            <a:r>
              <a:rPr dirty="0" sz="25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F1F1F"/>
                </a:solidFill>
                <a:latin typeface="Arial MT"/>
                <a:cs typeface="Arial MT"/>
              </a:rPr>
              <a:t>modules.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3317" y="3820298"/>
            <a:ext cx="4464050" cy="2077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00">
                <a:solidFill>
                  <a:srgbClr val="032159"/>
                </a:solidFill>
                <a:latin typeface="Trebuchet MS"/>
                <a:cs typeface="Trebuchet MS"/>
              </a:rPr>
              <a:t>Zero</a:t>
            </a:r>
            <a:r>
              <a:rPr dirty="0" sz="2950" spc="10">
                <a:solidFill>
                  <a:srgbClr val="032159"/>
                </a:solidFill>
                <a:latin typeface="Trebuchet MS"/>
                <a:cs typeface="Trebuchet MS"/>
              </a:rPr>
              <a:t> </a:t>
            </a:r>
            <a:r>
              <a:rPr dirty="0" sz="2950" spc="60">
                <a:solidFill>
                  <a:srgbClr val="001F54"/>
                </a:solidFill>
                <a:latin typeface="Trebuchet MS"/>
                <a:cs typeface="Trebuchet MS"/>
              </a:rPr>
              <a:t>Trust</a:t>
            </a:r>
            <a:r>
              <a:rPr dirty="0" sz="2950" spc="15">
                <a:solidFill>
                  <a:srgbClr val="001F54"/>
                </a:solidFill>
                <a:latin typeface="Trebuchet MS"/>
                <a:cs typeface="Trebuchet MS"/>
              </a:rPr>
              <a:t> </a:t>
            </a:r>
            <a:r>
              <a:rPr dirty="0" sz="2950" spc="45">
                <a:solidFill>
                  <a:srgbClr val="00214F"/>
                </a:solidFill>
                <a:latin typeface="Trebuchet MS"/>
                <a:cs typeface="Trebuchet MS"/>
              </a:rPr>
              <a:t>Network</a:t>
            </a:r>
            <a:endParaRPr sz="2950">
              <a:latin typeface="Trebuchet MS"/>
              <a:cs typeface="Trebuchet MS"/>
            </a:endParaRPr>
          </a:p>
          <a:p>
            <a:pPr algn="just" marL="17780" marR="5080" indent="-1905">
              <a:lnSpc>
                <a:spcPct val="120200"/>
              </a:lnSpc>
              <a:spcBef>
                <a:spcPts val="1560"/>
              </a:spcBef>
            </a:pPr>
            <a:r>
              <a:rPr dirty="0" sz="2550" spc="-35">
                <a:solidFill>
                  <a:srgbClr val="212121"/>
                </a:solidFill>
                <a:latin typeface="Arial MT"/>
                <a:cs typeface="Arial MT"/>
              </a:rPr>
              <a:t>Implement</a:t>
            </a:r>
            <a:r>
              <a:rPr dirty="0" sz="2550" spc="-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Arial MT"/>
                <a:cs typeface="Arial MT"/>
              </a:rPr>
              <a:t>secure</a:t>
            </a:r>
            <a:r>
              <a:rPr dirty="0" sz="2550" spc="-1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65">
                <a:solidFill>
                  <a:srgbClr val="232323"/>
                </a:solidFill>
                <a:latin typeface="Arial MT"/>
                <a:cs typeface="Arial MT"/>
              </a:rPr>
              <a:t>segmentation </a:t>
            </a:r>
            <a:r>
              <a:rPr dirty="0" sz="2550">
                <a:solidFill>
                  <a:srgbClr val="242424"/>
                </a:solidFill>
                <a:latin typeface="Arial MT"/>
                <a:cs typeface="Arial MT"/>
              </a:rPr>
              <a:t>using</a:t>
            </a:r>
            <a:r>
              <a:rPr dirty="0" sz="2550" spc="-1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1A1A1A"/>
                </a:solidFill>
                <a:latin typeface="Arial MT"/>
                <a:cs typeface="Arial MT"/>
              </a:rPr>
              <a:t>VNets,</a:t>
            </a:r>
            <a:r>
              <a:rPr dirty="0" sz="2550" spc="-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dirty="0" sz="2550" spc="-15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12121"/>
                </a:solidFill>
                <a:latin typeface="Arial MT"/>
                <a:cs typeface="Arial MT"/>
              </a:rPr>
              <a:t>Endpoints, </a:t>
            </a:r>
            <a:r>
              <a:rPr dirty="0" sz="255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dirty="0" sz="2550" spc="-14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110">
                <a:solidFill>
                  <a:srgbClr val="232323"/>
                </a:solidFill>
                <a:latin typeface="Arial MT"/>
                <a:cs typeface="Arial MT"/>
              </a:rPr>
              <a:t>WAF</a:t>
            </a:r>
            <a:r>
              <a:rPr dirty="0" sz="2550" spc="-7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protection.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644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30"/>
              </a:spcBef>
            </a:pPr>
            <a:r>
              <a:rPr dirty="0" baseline="-10052" sz="7875">
                <a:solidFill>
                  <a:srgbClr val="03BAEF"/>
                </a:solidFill>
              </a:rPr>
              <a:t>I</a:t>
            </a:r>
            <a:r>
              <a:rPr dirty="0" baseline="-10052" sz="7875" spc="1432">
                <a:solidFill>
                  <a:srgbClr val="03BAEF"/>
                </a:solidFill>
              </a:rPr>
              <a:t> </a:t>
            </a:r>
            <a:r>
              <a:rPr dirty="0" sz="5250" spc="50">
                <a:solidFill>
                  <a:srgbClr val="0077D4"/>
                </a:solidFill>
              </a:rPr>
              <a:t>Azure</a:t>
            </a:r>
            <a:r>
              <a:rPr dirty="0" sz="5250" spc="130">
                <a:solidFill>
                  <a:srgbClr val="0077D4"/>
                </a:solidFill>
              </a:rPr>
              <a:t> </a:t>
            </a:r>
            <a:r>
              <a:rPr dirty="0" sz="5250" spc="160">
                <a:solidFill>
                  <a:srgbClr val="0077D3"/>
                </a:solidFill>
              </a:rPr>
              <a:t>Cloud</a:t>
            </a:r>
            <a:r>
              <a:rPr dirty="0" sz="5250" spc="55">
                <a:solidFill>
                  <a:srgbClr val="0077D3"/>
                </a:solidFill>
              </a:rPr>
              <a:t> </a:t>
            </a:r>
            <a:r>
              <a:rPr dirty="0" sz="5250" spc="125">
                <a:solidFill>
                  <a:srgbClr val="0385DA"/>
                </a:solidFill>
              </a:rPr>
              <a:t>Architecture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938085" y="2579498"/>
            <a:ext cx="8608695" cy="56978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00">
                <a:solidFill>
                  <a:srgbClr val="001D3B"/>
                </a:solidFill>
                <a:latin typeface="Arial MT"/>
                <a:cs typeface="Arial MT"/>
              </a:rPr>
              <a:t>Architecture</a:t>
            </a:r>
            <a:r>
              <a:rPr dirty="0" sz="2950" spc="320">
                <a:solidFill>
                  <a:srgbClr val="001D3B"/>
                </a:solidFill>
                <a:latin typeface="Arial MT"/>
                <a:cs typeface="Arial MT"/>
              </a:rPr>
              <a:t> </a:t>
            </a:r>
            <a:r>
              <a:rPr dirty="0" sz="2950" spc="90">
                <a:solidFill>
                  <a:srgbClr val="011D4D"/>
                </a:solidFill>
                <a:latin typeface="Arial MT"/>
                <a:cs typeface="Arial MT"/>
              </a:rPr>
              <a:t>Components</a:t>
            </a:r>
            <a:endParaRPr sz="2950">
              <a:latin typeface="Arial MT"/>
              <a:cs typeface="Arial MT"/>
            </a:endParaRPr>
          </a:p>
          <a:p>
            <a:pPr marL="465455" marR="5080" indent="17780">
              <a:lnSpc>
                <a:spcPct val="168300"/>
              </a:lnSpc>
              <a:spcBef>
                <a:spcPts val="210"/>
              </a:spcBef>
            </a:pPr>
            <a:r>
              <a:rPr dirty="0" sz="2450" spc="100">
                <a:solidFill>
                  <a:srgbClr val="1A1A1A"/>
                </a:solidFill>
                <a:latin typeface="Arial MT"/>
                <a:cs typeface="Arial MT"/>
              </a:rPr>
              <a:t>Application</a:t>
            </a:r>
            <a:r>
              <a:rPr dirty="0" sz="2450" spc="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Gateway:</a:t>
            </a:r>
            <a:r>
              <a:rPr dirty="0" sz="2450" spc="18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61616"/>
                </a:solidFill>
                <a:latin typeface="Arial MT"/>
                <a:cs typeface="Arial MT"/>
              </a:rPr>
              <a:t>Traffic</a:t>
            </a:r>
            <a:r>
              <a:rPr dirty="0" sz="2450" spc="13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routing</a:t>
            </a:r>
            <a:r>
              <a:rPr dirty="0" sz="2450" spc="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with</a:t>
            </a:r>
            <a:r>
              <a:rPr dirty="0" sz="2450" spc="4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42424"/>
                </a:solidFill>
                <a:latin typeface="Arial MT"/>
                <a:cs typeface="Arial MT"/>
              </a:rPr>
              <a:t>WAF</a:t>
            </a:r>
            <a:r>
              <a:rPr dirty="0" sz="245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F1F1F"/>
                </a:solidFill>
                <a:latin typeface="Arial MT"/>
                <a:cs typeface="Arial MT"/>
              </a:rPr>
              <a:t>protection. </a:t>
            </a:r>
            <a:r>
              <a:rPr dirty="0" sz="2450" spc="90">
                <a:solidFill>
                  <a:srgbClr val="1F1F1F"/>
                </a:solidFill>
                <a:latin typeface="Arial MT"/>
                <a:cs typeface="Arial MT"/>
              </a:rPr>
              <a:t>Frontend</a:t>
            </a:r>
            <a:r>
              <a:rPr dirty="0" sz="2450" spc="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 spc="95">
                <a:solidFill>
                  <a:srgbClr val="232323"/>
                </a:solidFill>
                <a:latin typeface="Arial MT"/>
                <a:cs typeface="Arial MT"/>
              </a:rPr>
              <a:t>&amp;</a:t>
            </a:r>
            <a:r>
              <a:rPr dirty="0" sz="2450" spc="-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212121"/>
                </a:solidFill>
                <a:latin typeface="Arial MT"/>
                <a:cs typeface="Arial MT"/>
              </a:rPr>
              <a:t>Backend:</a:t>
            </a:r>
            <a:r>
              <a:rPr dirty="0" sz="2450" spc="11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Hosted</a:t>
            </a:r>
            <a:r>
              <a:rPr dirty="0" sz="2450" spc="114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D1D1D"/>
                </a:solidFill>
                <a:latin typeface="Arial MT"/>
                <a:cs typeface="Arial MT"/>
              </a:rPr>
              <a:t>on</a:t>
            </a:r>
            <a:r>
              <a:rPr dirty="0" sz="2450" spc="-16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F1F1F"/>
                </a:solidFill>
                <a:latin typeface="Arial MT"/>
                <a:cs typeface="Arial MT"/>
              </a:rPr>
              <a:t>Azure</a:t>
            </a:r>
            <a:r>
              <a:rPr dirty="0" sz="2450" spc="-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62626"/>
                </a:solidFill>
                <a:latin typeface="Arial MT"/>
                <a:cs typeface="Arial MT"/>
              </a:rPr>
              <a:t>App</a:t>
            </a:r>
            <a:r>
              <a:rPr dirty="0" sz="2450" spc="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11111"/>
                </a:solidFill>
                <a:latin typeface="Arial MT"/>
                <a:cs typeface="Arial MT"/>
              </a:rPr>
              <a:t>Services.</a:t>
            </a:r>
            <a:endParaRPr sz="2450">
              <a:latin typeface="Arial MT"/>
              <a:cs typeface="Arial MT"/>
            </a:endParaRPr>
          </a:p>
          <a:p>
            <a:pPr marL="466725">
              <a:lnSpc>
                <a:spcPct val="100000"/>
              </a:lnSpc>
              <a:spcBef>
                <a:spcPts val="2005"/>
              </a:spcBef>
            </a:pPr>
            <a:r>
              <a:rPr dirty="0" sz="2450">
                <a:solidFill>
                  <a:srgbClr val="161616"/>
                </a:solidFill>
                <a:latin typeface="Arial MT"/>
                <a:cs typeface="Arial MT"/>
              </a:rPr>
              <a:t>Database:</a:t>
            </a:r>
            <a:r>
              <a:rPr dirty="0" sz="2450" spc="-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A2A2A"/>
                </a:solidFill>
                <a:latin typeface="Arial MT"/>
                <a:cs typeface="Arial MT"/>
              </a:rPr>
              <a:t>Azure</a:t>
            </a:r>
            <a:r>
              <a:rPr dirty="0" sz="2450" spc="10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Cosmos</a:t>
            </a:r>
            <a:r>
              <a:rPr dirty="0" sz="2450" spc="7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DB</a:t>
            </a:r>
            <a:r>
              <a:rPr dirty="0" sz="24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D1D1D"/>
                </a:solidFill>
                <a:latin typeface="Arial MT"/>
                <a:cs typeface="Arial MT"/>
              </a:rPr>
              <a:t>(Mongo</a:t>
            </a:r>
            <a:r>
              <a:rPr dirty="0" sz="2450" spc="-2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API)</a:t>
            </a:r>
            <a:r>
              <a:rPr dirty="0" sz="2450" spc="114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62626"/>
                </a:solidFill>
                <a:latin typeface="Arial MT"/>
                <a:cs typeface="Arial MT"/>
              </a:rPr>
              <a:t>for</a:t>
            </a:r>
            <a:r>
              <a:rPr dirty="0" sz="2450" spc="9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Arial MT"/>
                <a:cs typeface="Arial MT"/>
              </a:rPr>
              <a:t>NoSQL</a:t>
            </a:r>
            <a:endParaRPr sz="2450">
              <a:latin typeface="Arial MT"/>
              <a:cs typeface="Arial MT"/>
            </a:endParaRPr>
          </a:p>
          <a:p>
            <a:pPr marL="474345">
              <a:lnSpc>
                <a:spcPct val="100000"/>
              </a:lnSpc>
              <a:spcBef>
                <a:spcPts val="735"/>
              </a:spcBef>
            </a:pPr>
            <a:r>
              <a:rPr dirty="0" sz="2550" spc="-10">
                <a:solidFill>
                  <a:srgbClr val="282828"/>
                </a:solidFill>
                <a:latin typeface="Cambria"/>
                <a:cs typeface="Cambria"/>
              </a:rPr>
              <a:t>data.</a:t>
            </a:r>
            <a:endParaRPr sz="2550">
              <a:latin typeface="Cambria"/>
              <a:cs typeface="Cambria"/>
            </a:endParaRPr>
          </a:p>
          <a:p>
            <a:pPr marL="483234">
              <a:lnSpc>
                <a:spcPct val="100000"/>
              </a:lnSpc>
              <a:spcBef>
                <a:spcPts val="1925"/>
              </a:spcBef>
            </a:pPr>
            <a:r>
              <a:rPr dirty="0" sz="2450">
                <a:solidFill>
                  <a:srgbClr val="242424"/>
                </a:solidFill>
                <a:latin typeface="Arial MT"/>
                <a:cs typeface="Arial MT"/>
              </a:rPr>
              <a:t>Al</a:t>
            </a:r>
            <a:r>
              <a:rPr dirty="0" sz="2450" spc="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232323"/>
                </a:solidFill>
                <a:latin typeface="Arial MT"/>
                <a:cs typeface="Arial MT"/>
              </a:rPr>
              <a:t>Engine:</a:t>
            </a:r>
            <a:r>
              <a:rPr dirty="0" sz="2450" spc="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Ollama</a:t>
            </a:r>
            <a:r>
              <a:rPr dirty="0" sz="2450" spc="-5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LLM</a:t>
            </a:r>
            <a:r>
              <a:rPr dirty="0" sz="2450" spc="-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62626"/>
                </a:solidFill>
                <a:latin typeface="Arial MT"/>
                <a:cs typeface="Arial MT"/>
              </a:rPr>
              <a:t>running</a:t>
            </a:r>
            <a:r>
              <a:rPr dirty="0" sz="2450" spc="5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on</a:t>
            </a:r>
            <a:r>
              <a:rPr dirty="0" sz="2450" spc="-10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specialized</a:t>
            </a:r>
            <a:r>
              <a:rPr dirty="0" sz="2450" spc="-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Azure</a:t>
            </a:r>
            <a:r>
              <a:rPr dirty="0" sz="2450" spc="12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Arial MT"/>
                <a:cs typeface="Arial MT"/>
              </a:rPr>
              <a:t>VM.</a:t>
            </a:r>
            <a:endParaRPr sz="2450">
              <a:latin typeface="Arial MT"/>
              <a:cs typeface="Arial MT"/>
            </a:endParaRPr>
          </a:p>
          <a:p>
            <a:pPr marL="470534" marR="896619" indent="5080">
              <a:lnSpc>
                <a:spcPct val="128299"/>
              </a:lnSpc>
              <a:spcBef>
                <a:spcPts val="1175"/>
              </a:spcBef>
            </a:pPr>
            <a:r>
              <a:rPr dirty="0" sz="2450" spc="90">
                <a:solidFill>
                  <a:srgbClr val="1D1D1D"/>
                </a:solidFill>
                <a:latin typeface="Arial MT"/>
                <a:cs typeface="Arial MT"/>
              </a:rPr>
              <a:t>Connectivity:</a:t>
            </a:r>
            <a:r>
              <a:rPr dirty="0" sz="2450" spc="21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Private</a:t>
            </a:r>
            <a:r>
              <a:rPr dirty="0" sz="2450" spc="5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Endpoints</a:t>
            </a:r>
            <a:r>
              <a:rPr dirty="0" sz="24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&amp;</a:t>
            </a:r>
            <a:r>
              <a:rPr dirty="0" sz="2450" spc="-4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D1D1D"/>
                </a:solidFill>
                <a:latin typeface="Arial MT"/>
                <a:cs typeface="Arial MT"/>
              </a:rPr>
              <a:t>VNet</a:t>
            </a:r>
            <a:r>
              <a:rPr dirty="0" sz="2450" spc="1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D1D1D"/>
                </a:solidFill>
                <a:latin typeface="Arial MT"/>
                <a:cs typeface="Arial MT"/>
              </a:rPr>
              <a:t>Peering</a:t>
            </a:r>
            <a:r>
              <a:rPr dirty="0" sz="2450" spc="1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282828"/>
                </a:solidFill>
                <a:latin typeface="Arial MT"/>
                <a:cs typeface="Arial MT"/>
              </a:rPr>
              <a:t>for </a:t>
            </a:r>
            <a:r>
              <a:rPr dirty="0" sz="2450" spc="-10">
                <a:solidFill>
                  <a:srgbClr val="242424"/>
                </a:solidFill>
                <a:latin typeface="Arial MT"/>
                <a:cs typeface="Arial MT"/>
              </a:rPr>
              <a:t>isolation.</a:t>
            </a:r>
            <a:endParaRPr sz="2450">
              <a:latin typeface="Arial MT"/>
              <a:cs typeface="Arial MT"/>
            </a:endParaRPr>
          </a:p>
          <a:p>
            <a:pPr marL="466725">
              <a:lnSpc>
                <a:spcPct val="100000"/>
              </a:lnSpc>
              <a:spcBef>
                <a:spcPts val="1845"/>
              </a:spcBef>
            </a:pPr>
            <a:r>
              <a:rPr dirty="0" sz="2550">
                <a:solidFill>
                  <a:srgbClr val="1A1A1A"/>
                </a:solidFill>
                <a:latin typeface="Arial MT"/>
                <a:cs typeface="Arial MT"/>
              </a:rPr>
              <a:t>Management:</a:t>
            </a:r>
            <a:r>
              <a:rPr dirty="0" sz="2550" spc="-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262626"/>
                </a:solidFill>
                <a:latin typeface="Arial MT"/>
                <a:cs typeface="Arial MT"/>
              </a:rPr>
              <a:t>Azure</a:t>
            </a:r>
            <a:r>
              <a:rPr dirty="0" sz="2550" spc="-4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1D1D1D"/>
                </a:solidFill>
                <a:latin typeface="Arial MT"/>
                <a:cs typeface="Arial MT"/>
              </a:rPr>
              <a:t>Bastion</a:t>
            </a:r>
            <a:r>
              <a:rPr dirty="0" sz="2550" spc="1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2550" spc="-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165">
                <a:solidFill>
                  <a:srgbClr val="2D2D2D"/>
                </a:solidFill>
                <a:latin typeface="Arial MT"/>
                <a:cs typeface="Arial MT"/>
              </a:rPr>
              <a:t>NAT</a:t>
            </a:r>
            <a:r>
              <a:rPr dirty="0" sz="2550" spc="-1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12121"/>
                </a:solidFill>
                <a:latin typeface="Arial MT"/>
                <a:cs typeface="Arial MT"/>
              </a:rPr>
              <a:t>Gateway</a:t>
            </a:r>
            <a:r>
              <a:rPr dirty="0" sz="25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62626"/>
                </a:solidFill>
                <a:latin typeface="Arial MT"/>
                <a:cs typeface="Arial MT"/>
              </a:rPr>
              <a:t>for</a:t>
            </a:r>
            <a:r>
              <a:rPr dirty="0" sz="2550" spc="-5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61616"/>
                </a:solidFill>
                <a:latin typeface="Arial MT"/>
                <a:cs typeface="Arial MT"/>
              </a:rPr>
              <a:t>secure</a:t>
            </a:r>
            <a:endParaRPr sz="2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dirty="0" sz="2550" spc="-75">
                <a:solidFill>
                  <a:srgbClr val="212121"/>
                </a:solidFill>
                <a:latin typeface="Consolas"/>
                <a:cs typeface="Consolas"/>
              </a:rPr>
              <a:t>access.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469" y="8549866"/>
            <a:ext cx="7683500" cy="1454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1905">
              <a:lnSpc>
                <a:spcPct val="122300"/>
              </a:lnSpc>
              <a:spcBef>
                <a:spcPts val="125"/>
              </a:spcBef>
            </a:pPr>
            <a:r>
              <a:rPr dirty="0" sz="2550" spc="-40" i="1">
                <a:solidFill>
                  <a:srgbClr val="212121"/>
                </a:solidFill>
                <a:latin typeface="Arial"/>
                <a:cs typeface="Arial"/>
              </a:rPr>
              <a:t>Designed</a:t>
            </a:r>
            <a:r>
              <a:rPr dirty="0" sz="2550" spc="-50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262626"/>
                </a:solidFill>
                <a:latin typeface="Arial"/>
                <a:cs typeface="Arial"/>
              </a:rPr>
              <a:t>for</a:t>
            </a:r>
            <a:r>
              <a:rPr dirty="0" sz="2550" spc="-6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550" spc="-10" i="1">
                <a:solidFill>
                  <a:srgbClr val="282828"/>
                </a:solidFill>
                <a:latin typeface="Arial"/>
                <a:cs typeface="Arial"/>
              </a:rPr>
              <a:t>high</a:t>
            </a:r>
            <a:r>
              <a:rPr dirty="0" sz="2550" spc="-135" i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550" spc="-70" i="1">
                <a:solidFill>
                  <a:srgbClr val="262626"/>
                </a:solidFill>
                <a:latin typeface="Arial"/>
                <a:cs typeface="Arial"/>
              </a:rPr>
              <a:t>availabilil:y</a:t>
            </a:r>
            <a:r>
              <a:rPr dirty="0" sz="2550" spc="-8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1D1D1D"/>
                </a:solidFill>
                <a:latin typeface="Arial"/>
                <a:cs typeface="Arial"/>
              </a:rPr>
              <a:t>and</a:t>
            </a:r>
            <a:r>
              <a:rPr dirty="0" sz="2550" spc="-135" i="1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2550" spc="-30" i="1">
                <a:solidFill>
                  <a:srgbClr val="212121"/>
                </a:solidFill>
                <a:latin typeface="Arial"/>
                <a:cs typeface="Arial"/>
              </a:rPr>
              <a:t>isolation,</a:t>
            </a:r>
            <a:r>
              <a:rPr dirty="0" sz="2550" spc="-40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dirty="0" sz="2550" spc="-17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550" spc="-105" i="1">
                <a:solidFill>
                  <a:srgbClr val="242424"/>
                </a:solidFill>
                <a:latin typeface="Arial"/>
                <a:cs typeface="Arial"/>
              </a:rPr>
              <a:t>plai:form </a:t>
            </a:r>
            <a:r>
              <a:rPr dirty="0" sz="2550" spc="-30" i="1">
                <a:solidFill>
                  <a:srgbClr val="1D1D1D"/>
                </a:solidFill>
                <a:latin typeface="Arial"/>
                <a:cs typeface="Arial"/>
              </a:rPr>
              <a:t>leverages</a:t>
            </a:r>
            <a:r>
              <a:rPr dirty="0" sz="2550" spc="20" i="1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2550" spc="-25" i="1">
                <a:solidFill>
                  <a:srgbClr val="1D1D1D"/>
                </a:solidFill>
                <a:latin typeface="Arial"/>
                <a:cs typeface="Arial"/>
              </a:rPr>
              <a:t>Private</a:t>
            </a:r>
            <a:r>
              <a:rPr dirty="0" sz="2550" spc="-35" i="1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2550" spc="-20" i="1">
                <a:solidFill>
                  <a:srgbClr val="262626"/>
                </a:solidFill>
                <a:latin typeface="Arial"/>
                <a:cs typeface="Arial"/>
              </a:rPr>
              <a:t>Link</a:t>
            </a:r>
            <a:r>
              <a:rPr dirty="0" sz="2550" spc="-13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2550" spc="-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-20" i="1">
                <a:solidFill>
                  <a:srgbClr val="212121"/>
                </a:solidFill>
                <a:latin typeface="Arial"/>
                <a:cs typeface="Arial"/>
              </a:rPr>
              <a:t>keep</a:t>
            </a:r>
            <a:r>
              <a:rPr dirty="0" sz="2550" spc="-15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1A1A1A"/>
                </a:solidFill>
                <a:latin typeface="Arial"/>
                <a:cs typeface="Arial"/>
              </a:rPr>
              <a:t>all</a:t>
            </a:r>
            <a:r>
              <a:rPr dirty="0" sz="2550" spc="-125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550" spc="-25" i="1">
                <a:solidFill>
                  <a:srgbClr val="232323"/>
                </a:solidFill>
                <a:latin typeface="Arial"/>
                <a:cs typeface="Arial"/>
              </a:rPr>
              <a:t>traffic</a:t>
            </a:r>
            <a:r>
              <a:rPr dirty="0" sz="2550" spc="-114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262626"/>
                </a:solidFill>
                <a:latin typeface="Arial"/>
                <a:cs typeface="Arial"/>
              </a:rPr>
              <a:t>off</a:t>
            </a:r>
            <a:r>
              <a:rPr dirty="0" sz="2550" spc="-11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550" i="1">
                <a:solidFill>
                  <a:srgbClr val="232323"/>
                </a:solidFill>
                <a:latin typeface="Arial"/>
                <a:cs typeface="Arial"/>
              </a:rPr>
              <a:t>the</a:t>
            </a:r>
            <a:r>
              <a:rPr dirty="0" sz="2550" spc="-15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550" spc="-10" i="1">
                <a:solidFill>
                  <a:srgbClr val="242424"/>
                </a:solidFill>
                <a:latin typeface="Arial"/>
                <a:cs typeface="Arial"/>
              </a:rPr>
              <a:t>public </a:t>
            </a:r>
            <a:r>
              <a:rPr dirty="0" sz="2550" spc="-10" i="1">
                <a:solidFill>
                  <a:srgbClr val="282828"/>
                </a:solidFill>
                <a:latin typeface="Arial"/>
                <a:cs typeface="Arial"/>
              </a:rPr>
              <a:t>internet.</a:t>
            </a:r>
            <a:endParaRPr sz="2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80716" y="2891007"/>
            <a:ext cx="317309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204">
                <a:solidFill>
                  <a:srgbClr val="1A1A1A"/>
                </a:solidFill>
                <a:latin typeface="Arial MT"/>
                <a:cs typeface="Arial MT"/>
              </a:rPr>
              <a:t>azure</a:t>
            </a:r>
            <a:r>
              <a:rPr dirty="0" sz="1900" spc="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A1A1A"/>
                </a:solidFill>
                <a:latin typeface="Arial MT"/>
                <a:cs typeface="Arial MT"/>
              </a:rPr>
              <a:t>Architecture</a:t>
            </a:r>
            <a:r>
              <a:rPr dirty="0" sz="1900" spc="2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161616"/>
                </a:solidFill>
                <a:latin typeface="Arial MT"/>
                <a:cs typeface="Arial MT"/>
              </a:rPr>
              <a:t>Diagram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743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dirty="0" baseline="-9773" sz="8100" spc="179">
                <a:solidFill>
                  <a:srgbClr val="03BAEF"/>
                </a:solidFill>
              </a:rPr>
              <a:t>I</a:t>
            </a:r>
            <a:r>
              <a:rPr dirty="0" baseline="-9773" sz="8100" spc="1080">
                <a:solidFill>
                  <a:srgbClr val="03BAEF"/>
                </a:solidFill>
              </a:rPr>
              <a:t> </a:t>
            </a:r>
            <a:r>
              <a:rPr dirty="0" sz="5400">
                <a:solidFill>
                  <a:srgbClr val="0077D4"/>
                </a:solidFill>
              </a:rPr>
              <a:t>Azure</a:t>
            </a:r>
            <a:r>
              <a:rPr dirty="0" sz="5400" spc="5">
                <a:solidFill>
                  <a:srgbClr val="0077D4"/>
                </a:solidFill>
              </a:rPr>
              <a:t> </a:t>
            </a:r>
            <a:r>
              <a:rPr dirty="0" sz="5400" spc="50">
                <a:solidFill>
                  <a:srgbClr val="0577CD"/>
                </a:solidFill>
              </a:rPr>
              <a:t>Services</a:t>
            </a:r>
            <a:r>
              <a:rPr dirty="0" sz="5400" spc="150">
                <a:solidFill>
                  <a:srgbClr val="0577CD"/>
                </a:solidFill>
              </a:rPr>
              <a:t> </a:t>
            </a:r>
            <a:r>
              <a:rPr dirty="0" sz="5400" spc="50">
                <a:solidFill>
                  <a:srgbClr val="0077D4"/>
                </a:solidFill>
              </a:rPr>
              <a:t>Utilized</a:t>
            </a:r>
            <a:endParaRPr sz="5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16478" y="4029978"/>
          <a:ext cx="14690090" cy="395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2290"/>
                <a:gridCol w="4994910"/>
                <a:gridCol w="6536055"/>
              </a:tblGrid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705"/>
                        </a:lnSpc>
                      </a:pPr>
                      <a:r>
                        <a:rPr dirty="0" sz="2450" spc="-1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Compute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ts val="2705"/>
                        </a:lnSpc>
                      </a:pPr>
                      <a:r>
                        <a:rPr dirty="0" sz="2450" spc="-20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2450" spc="1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2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2450" spc="-2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2450" spc="-125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VM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ts val="2705"/>
                        </a:lnSpc>
                      </a:pPr>
                      <a:r>
                        <a:rPr dirty="0" sz="2450" spc="-12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2450" spc="-3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25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hosting</a:t>
                      </a:r>
                      <a:r>
                        <a:rPr dirty="0" sz="2450" spc="-4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6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12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2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2450" spc="-85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3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2450" spc="1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4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execution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35382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75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VNet</a:t>
                      </a:r>
                      <a:r>
                        <a:rPr dirty="0" sz="2450" spc="5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2450" spc="-10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Bastion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1055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1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Isolation</a:t>
                      </a:r>
                      <a:r>
                        <a:rPr dirty="0" sz="2450" spc="-2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5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1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4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dirty="0" sz="2450" spc="45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14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administrative</a:t>
                      </a:r>
                      <a:r>
                        <a:rPr dirty="0" sz="2450" spc="-8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entry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</a:tr>
              <a:tr h="721995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20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dirty="0" sz="2450" spc="-1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r>
                        <a:rPr dirty="0" sz="2450" spc="-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2450" spc="-12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WAF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95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L7</a:t>
                      </a:r>
                      <a:r>
                        <a:rPr dirty="0" sz="245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35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load</a:t>
                      </a:r>
                      <a:r>
                        <a:rPr dirty="0" sz="2450" spc="-35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3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balancing</a:t>
                      </a:r>
                      <a:r>
                        <a:rPr dirty="0" sz="2450" spc="3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5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4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threat</a:t>
                      </a:r>
                      <a:r>
                        <a:rPr dirty="0" sz="2450" spc="-3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protection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Database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3474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6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Cosmos</a:t>
                      </a:r>
                      <a:r>
                        <a:rPr dirty="0" sz="2450" spc="1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DB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25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Scalable</a:t>
                      </a:r>
                      <a:r>
                        <a:rPr dirty="0" sz="2450" spc="-25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0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NoSQL</a:t>
                      </a:r>
                      <a:r>
                        <a:rPr dirty="0" sz="2450" spc="1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14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r>
                        <a:rPr dirty="0" sz="2450" spc="75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3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2450" spc="-75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7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Mongo</a:t>
                      </a:r>
                      <a:r>
                        <a:rPr dirty="0" sz="2450" spc="-65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API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</a:tr>
              <a:tr h="721995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Connectivity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3468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dirty="0" sz="245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Endpoint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2450" spc="-145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dirty="0" sz="2450" spc="-25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1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dirty="0" sz="2450" spc="-1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25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2450" spc="2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65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communication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</a:tr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dirty="0" sz="245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346200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dirty="0" sz="2450" spc="-145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Resource</a:t>
                      </a:r>
                      <a:r>
                        <a:rPr dirty="0" sz="245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 marL="1104265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dirty="0" sz="2450" spc="-114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Logical</a:t>
                      </a:r>
                      <a:r>
                        <a:rPr dirty="0" sz="2450" spc="-35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grouping</a:t>
                      </a:r>
                      <a:r>
                        <a:rPr dirty="0" sz="245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45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lifecycle</a:t>
                      </a:r>
                      <a:r>
                        <a:rPr dirty="0" sz="245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15748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04315" y="8953649"/>
            <a:ext cx="99847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1C1C1C"/>
                </a:solidFill>
                <a:latin typeface="Arial MT"/>
                <a:cs typeface="Arial MT"/>
              </a:rPr>
              <a:t>Leveraging</a:t>
            </a:r>
            <a:r>
              <a:rPr dirty="0" sz="1900" spc="17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81818"/>
                </a:solidFill>
                <a:latin typeface="Arial MT"/>
                <a:cs typeface="Arial MT"/>
              </a:rPr>
              <a:t>first-party</a:t>
            </a:r>
            <a:r>
              <a:rPr dirty="0" sz="1900" spc="17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dirty="0" sz="1900" spc="204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A1A1A"/>
                </a:solidFill>
                <a:latin typeface="Arial MT"/>
                <a:cs typeface="Arial MT"/>
              </a:rPr>
              <a:t>services</a:t>
            </a:r>
            <a:r>
              <a:rPr dirty="0" sz="1900" spc="229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dirty="0" sz="1900" spc="114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12121"/>
                </a:solidFill>
                <a:latin typeface="Arial MT"/>
                <a:cs typeface="Arial MT"/>
              </a:rPr>
              <a:t>ensure</a:t>
            </a:r>
            <a:r>
              <a:rPr dirty="0" sz="1900" spc="229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F1F1F"/>
                </a:solidFill>
                <a:latin typeface="Arial MT"/>
                <a:cs typeface="Arial MT"/>
              </a:rPr>
              <a:t>seamless</a:t>
            </a:r>
            <a:r>
              <a:rPr dirty="0" sz="1900" spc="3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12121"/>
                </a:solidFill>
                <a:latin typeface="Arial MT"/>
                <a:cs typeface="Arial MT"/>
              </a:rPr>
              <a:t>integration</a:t>
            </a:r>
            <a:r>
              <a:rPr dirty="0" sz="1900" spc="2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dirty="0" sz="1900" spc="114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1F1F1F"/>
                </a:solidFill>
                <a:latin typeface="Arial MT"/>
                <a:cs typeface="Arial MT"/>
              </a:rPr>
              <a:t>SLA</a:t>
            </a:r>
            <a:r>
              <a:rPr dirty="0" sz="1900" spc="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1C1C1C"/>
                </a:solidFill>
                <a:latin typeface="Arial MT"/>
                <a:cs typeface="Arial MT"/>
              </a:rPr>
              <a:t>compliance.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586065" y="7963108"/>
            <a:ext cx="8591550" cy="86995"/>
            <a:chOff x="10586065" y="7963108"/>
            <a:chExt cx="8591550" cy="86995"/>
          </a:xfrm>
        </p:grpSpPr>
        <p:sp>
          <p:nvSpPr>
            <p:cNvPr id="4" name="object 4"/>
            <p:cNvSpPr/>
            <p:nvPr/>
          </p:nvSpPr>
          <p:spPr>
            <a:xfrm>
              <a:off x="10586065" y="8037713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 h="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09624" y="7974888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 h="0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0586065" y="5701396"/>
            <a:ext cx="8591550" cy="86995"/>
            <a:chOff x="10586065" y="5701396"/>
            <a:chExt cx="8591550" cy="86995"/>
          </a:xfrm>
        </p:grpSpPr>
        <p:sp>
          <p:nvSpPr>
            <p:cNvPr id="7" name="object 7"/>
            <p:cNvSpPr/>
            <p:nvPr/>
          </p:nvSpPr>
          <p:spPr>
            <a:xfrm>
              <a:off x="10586065" y="5776002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 h="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09624" y="5713176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 h="0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586065" y="3439685"/>
            <a:ext cx="8591550" cy="86995"/>
            <a:chOff x="10586065" y="3439685"/>
            <a:chExt cx="8591550" cy="86995"/>
          </a:xfrm>
        </p:grpSpPr>
        <p:sp>
          <p:nvSpPr>
            <p:cNvPr id="10" name="object 10"/>
            <p:cNvSpPr/>
            <p:nvPr/>
          </p:nvSpPr>
          <p:spPr>
            <a:xfrm>
              <a:off x="10586065" y="3514290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 h="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609624" y="3451465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 h="0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926673" y="3863756"/>
            <a:ext cx="8670290" cy="3361690"/>
            <a:chOff x="926673" y="3863756"/>
            <a:chExt cx="8670290" cy="33616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8885" y="7680394"/>
            <a:ext cx="1429275" cy="7696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4835" y="7680394"/>
            <a:ext cx="1350744" cy="7696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2252" y="7680394"/>
            <a:ext cx="1507807" cy="76961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89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dirty="0" baseline="-10288" sz="8100">
                <a:solidFill>
                  <a:srgbClr val="03BAEF"/>
                </a:solidFill>
              </a:rPr>
              <a:t>I</a:t>
            </a:r>
            <a:r>
              <a:rPr dirty="0" baseline="-10288" sz="8100" spc="735">
                <a:solidFill>
                  <a:srgbClr val="03BAEF"/>
                </a:solidFill>
              </a:rPr>
              <a:t> </a:t>
            </a:r>
            <a:r>
              <a:rPr dirty="0" sz="5400" spc="150">
                <a:solidFill>
                  <a:srgbClr val="0077D1"/>
                </a:solidFill>
              </a:rPr>
              <a:t>Infrastructure</a:t>
            </a:r>
            <a:r>
              <a:rPr dirty="0" sz="5400" spc="-235">
                <a:solidFill>
                  <a:srgbClr val="0077D1"/>
                </a:solidFill>
              </a:rPr>
              <a:t> </a:t>
            </a:r>
            <a:r>
              <a:rPr dirty="0" sz="5400">
                <a:solidFill>
                  <a:srgbClr val="0070C8"/>
                </a:solidFill>
              </a:rPr>
              <a:t>as</a:t>
            </a:r>
            <a:r>
              <a:rPr dirty="0" sz="5400" spc="-5">
                <a:solidFill>
                  <a:srgbClr val="0070C8"/>
                </a:solidFill>
              </a:rPr>
              <a:t> </a:t>
            </a:r>
            <a:r>
              <a:rPr dirty="0" sz="5400">
                <a:solidFill>
                  <a:srgbClr val="0079E4"/>
                </a:solidFill>
              </a:rPr>
              <a:t>Code</a:t>
            </a:r>
            <a:r>
              <a:rPr dirty="0" sz="5400" spc="100">
                <a:solidFill>
                  <a:srgbClr val="0079E4"/>
                </a:solidFill>
              </a:rPr>
              <a:t> </a:t>
            </a:r>
            <a:r>
              <a:rPr dirty="0" sz="5400" spc="160">
                <a:solidFill>
                  <a:srgbClr val="0075DB"/>
                </a:solidFill>
              </a:rPr>
              <a:t>with</a:t>
            </a:r>
            <a:r>
              <a:rPr dirty="0" sz="5400" spc="-45">
                <a:solidFill>
                  <a:srgbClr val="0075DB"/>
                </a:solidFill>
              </a:rPr>
              <a:t> </a:t>
            </a:r>
            <a:r>
              <a:rPr dirty="0" sz="5400" spc="-10">
                <a:solidFill>
                  <a:srgbClr val="0177D1"/>
                </a:solidFill>
              </a:rPr>
              <a:t>Terraform</a:t>
            </a:r>
            <a:endParaRPr sz="5400"/>
          </a:p>
        </p:txBody>
      </p:sp>
      <p:sp>
        <p:nvSpPr>
          <p:cNvPr id="19" name="object 19"/>
          <p:cNvSpPr txBox="1"/>
          <p:nvPr/>
        </p:nvSpPr>
        <p:spPr>
          <a:xfrm>
            <a:off x="1395857" y="2893625"/>
            <a:ext cx="509333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A067DA"/>
                </a:solidFill>
                <a:latin typeface="Arial MT"/>
                <a:cs typeface="Arial MT"/>
              </a:rPr>
              <a:t>d</a:t>
            </a:r>
            <a:r>
              <a:rPr dirty="0" sz="2950" spc="155">
                <a:solidFill>
                  <a:srgbClr val="A067DA"/>
                </a:solidFill>
                <a:latin typeface="Arial MT"/>
                <a:cs typeface="Arial MT"/>
              </a:rPr>
              <a:t>  </a:t>
            </a:r>
            <a:r>
              <a:rPr dirty="0" sz="2950" spc="90">
                <a:solidFill>
                  <a:srgbClr val="00235D"/>
                </a:solidFill>
                <a:latin typeface="Arial MT"/>
                <a:cs typeface="Arial MT"/>
              </a:rPr>
              <a:t>Modular</a:t>
            </a:r>
            <a:r>
              <a:rPr dirty="0" sz="2950" spc="190">
                <a:solidFill>
                  <a:srgbClr val="00235D"/>
                </a:solidFill>
                <a:latin typeface="Arial MT"/>
                <a:cs typeface="Arial MT"/>
              </a:rPr>
              <a:t> </a:t>
            </a:r>
            <a:r>
              <a:rPr dirty="0" sz="2950" spc="100">
                <a:solidFill>
                  <a:srgbClr val="001C54"/>
                </a:solidFill>
                <a:latin typeface="Arial MT"/>
                <a:cs typeface="Arial MT"/>
              </a:rPr>
              <a:t>Project</a:t>
            </a:r>
            <a:r>
              <a:rPr dirty="0" sz="2950" spc="90">
                <a:solidFill>
                  <a:srgbClr val="001C54"/>
                </a:solidFill>
                <a:latin typeface="Arial MT"/>
                <a:cs typeface="Arial MT"/>
              </a:rPr>
              <a:t> </a:t>
            </a:r>
            <a:r>
              <a:rPr dirty="0" sz="2950" spc="100">
                <a:solidFill>
                  <a:srgbClr val="00215B"/>
                </a:solidFill>
                <a:latin typeface="Arial MT"/>
                <a:cs typeface="Arial MT"/>
              </a:rPr>
              <a:t>Structure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06534" y="2720855"/>
            <a:ext cx="517715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00">
                <a:solidFill>
                  <a:srgbClr val="002356"/>
                </a:solidFill>
                <a:latin typeface="Arial MT"/>
                <a:cs typeface="Arial MT"/>
              </a:rPr>
              <a:t>Key</a:t>
            </a:r>
            <a:r>
              <a:rPr dirty="0" sz="2950" spc="-50">
                <a:solidFill>
                  <a:srgbClr val="002356"/>
                </a:solidFill>
                <a:latin typeface="Arial MT"/>
                <a:cs typeface="Arial MT"/>
              </a:rPr>
              <a:t> </a:t>
            </a:r>
            <a:r>
              <a:rPr dirty="0" sz="2950" spc="125">
                <a:solidFill>
                  <a:srgbClr val="001F54"/>
                </a:solidFill>
                <a:latin typeface="Arial MT"/>
                <a:cs typeface="Arial MT"/>
              </a:rPr>
              <a:t>Implementation</a:t>
            </a:r>
            <a:r>
              <a:rPr dirty="0" sz="2950" spc="-80">
                <a:solidFill>
                  <a:srgbClr val="001F54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3214D"/>
                </a:solidFill>
                <a:latin typeface="Arial MT"/>
                <a:cs typeface="Arial MT"/>
              </a:rPr>
              <a:t>Benefits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78399" y="3885087"/>
            <a:ext cx="7510145" cy="9836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1430">
              <a:lnSpc>
                <a:spcPct val="123300"/>
              </a:lnSpc>
              <a:spcBef>
                <a:spcPts val="90"/>
              </a:spcBef>
            </a:pPr>
            <a:r>
              <a:rPr dirty="0" sz="2550">
                <a:solidFill>
                  <a:srgbClr val="212121"/>
                </a:solidFill>
                <a:latin typeface="Arial MT"/>
                <a:cs typeface="Arial MT"/>
              </a:rPr>
              <a:t>Automated</a:t>
            </a:r>
            <a:r>
              <a:rPr dirty="0" sz="25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212121"/>
                </a:solidFill>
                <a:latin typeface="Arial MT"/>
                <a:cs typeface="Arial MT"/>
              </a:rPr>
              <a:t>Provisioning:</a:t>
            </a:r>
            <a:r>
              <a:rPr dirty="0" sz="2550" spc="229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1F1F1F"/>
                </a:solidFill>
                <a:latin typeface="Arial MT"/>
                <a:cs typeface="Arial MT"/>
              </a:rPr>
              <a:t>Human-</a:t>
            </a:r>
            <a:r>
              <a:rPr dirty="0" sz="2550">
                <a:solidFill>
                  <a:srgbClr val="1F1F1F"/>
                </a:solidFill>
                <a:latin typeface="Arial MT"/>
                <a:cs typeface="Arial MT"/>
              </a:rPr>
              <a:t>error</a:t>
            </a:r>
            <a:r>
              <a:rPr dirty="0" sz="2550" spc="2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161616"/>
                </a:solidFill>
                <a:latin typeface="Arial MT"/>
                <a:cs typeface="Arial MT"/>
              </a:rPr>
              <a:t>reduction</a:t>
            </a:r>
            <a:r>
              <a:rPr dirty="0" sz="2550" spc="1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32323"/>
                </a:solidFill>
                <a:latin typeface="Arial MT"/>
                <a:cs typeface="Arial MT"/>
              </a:rPr>
              <a:t>via </a:t>
            </a:r>
            <a:r>
              <a:rPr dirty="0" sz="2550" spc="-30">
                <a:solidFill>
                  <a:srgbClr val="1F1F1F"/>
                </a:solidFill>
                <a:latin typeface="Arial MT"/>
                <a:cs typeface="Arial MT"/>
              </a:rPr>
              <a:t>declarative</a:t>
            </a:r>
            <a:r>
              <a:rPr dirty="0" sz="2550" spc="-9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F1F1F"/>
                </a:solidFill>
                <a:latin typeface="Arial MT"/>
                <a:cs typeface="Arial MT"/>
              </a:rPr>
              <a:t>code.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1717" y="6162504"/>
            <a:ext cx="7647940" cy="968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21200"/>
              </a:lnSpc>
              <a:spcBef>
                <a:spcPts val="95"/>
              </a:spcBef>
            </a:pPr>
            <a:r>
              <a:rPr dirty="0" sz="2550">
                <a:solidFill>
                  <a:srgbClr val="212121"/>
                </a:solidFill>
                <a:latin typeface="Arial MT"/>
                <a:cs typeface="Arial MT"/>
              </a:rPr>
              <a:t>Reusable</a:t>
            </a:r>
            <a:r>
              <a:rPr dirty="0" sz="25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1F1F1F"/>
                </a:solidFill>
                <a:latin typeface="Arial MT"/>
                <a:cs typeface="Arial MT"/>
              </a:rPr>
              <a:t>Modules:</a:t>
            </a:r>
            <a:r>
              <a:rPr dirty="0" sz="2550" spc="1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161616"/>
                </a:solidFill>
                <a:latin typeface="Arial MT"/>
                <a:cs typeface="Arial MT"/>
              </a:rPr>
              <a:t>Standardized</a:t>
            </a:r>
            <a:r>
              <a:rPr dirty="0" sz="2550" spc="17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1F1F1F"/>
                </a:solidFill>
                <a:latin typeface="Arial MT"/>
                <a:cs typeface="Arial MT"/>
              </a:rPr>
              <a:t>"building</a:t>
            </a:r>
            <a:r>
              <a:rPr dirty="0" sz="2550" spc="114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232323"/>
                </a:solidFill>
                <a:latin typeface="Arial MT"/>
                <a:cs typeface="Arial MT"/>
              </a:rPr>
              <a:t>blocks"</a:t>
            </a:r>
            <a:r>
              <a:rPr dirty="0" sz="2550" spc="6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62626"/>
                </a:solidFill>
                <a:latin typeface="Arial MT"/>
                <a:cs typeface="Arial MT"/>
              </a:rPr>
              <a:t>for 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all</a:t>
            </a:r>
            <a:r>
              <a:rPr dirty="0" sz="2550" spc="-6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D1D1D"/>
                </a:solidFill>
                <a:latin typeface="Arial MT"/>
                <a:cs typeface="Arial MT"/>
              </a:rPr>
              <a:t>environments.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78847" y="8413090"/>
            <a:ext cx="7515859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26200"/>
              </a:lnSpc>
              <a:spcBef>
                <a:spcPts val="100"/>
              </a:spcBef>
            </a:pPr>
            <a:r>
              <a:rPr dirty="0" sz="2450" spc="55">
                <a:solidFill>
                  <a:srgbClr val="212121"/>
                </a:solidFill>
                <a:latin typeface="Arial MT"/>
                <a:cs typeface="Arial MT"/>
              </a:rPr>
              <a:t>Version</a:t>
            </a:r>
            <a:r>
              <a:rPr dirty="0" sz="2450" spc="1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100">
                <a:solidFill>
                  <a:srgbClr val="212121"/>
                </a:solidFill>
                <a:latin typeface="Arial MT"/>
                <a:cs typeface="Arial MT"/>
              </a:rPr>
              <a:t>Control:</a:t>
            </a:r>
            <a:r>
              <a:rPr dirty="0" sz="245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dirty="0" sz="245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42424"/>
                </a:solidFill>
                <a:latin typeface="Arial MT"/>
                <a:cs typeface="Arial MT"/>
              </a:rPr>
              <a:t>history</a:t>
            </a:r>
            <a:r>
              <a:rPr dirty="0" sz="2450" spc="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tracked</a:t>
            </a:r>
            <a:r>
              <a:rPr dirty="0" sz="2450" spc="10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via</a:t>
            </a:r>
            <a:r>
              <a:rPr dirty="0" sz="2450" spc="-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212121"/>
                </a:solidFill>
                <a:latin typeface="Arial MT"/>
                <a:cs typeface="Arial MT"/>
              </a:rPr>
              <a:t>Git </a:t>
            </a:r>
            <a:r>
              <a:rPr dirty="0" sz="2450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dirty="0" sz="2450" spc="8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full</a:t>
            </a:r>
            <a:r>
              <a:rPr dirty="0" sz="2450" spc="-6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auditability.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54415" y="10134508"/>
            <a:ext cx="17858105" cy="0"/>
          </a:xfrm>
          <a:custGeom>
            <a:avLst/>
            <a:gdLst/>
            <a:ahLst/>
            <a:cxnLst/>
            <a:rect l="l" t="t" r="r" b="b"/>
            <a:pathLst>
              <a:path w="17858105" h="0">
                <a:moveTo>
                  <a:pt x="0" y="0"/>
                </a:moveTo>
                <a:lnTo>
                  <a:pt x="17858096" y="0"/>
                </a:lnTo>
              </a:path>
            </a:pathLst>
          </a:custGeom>
          <a:ln w="23559">
            <a:solidFill>
              <a:srgbClr val="23A3A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44470" y="7232763"/>
            <a:ext cx="18101945" cy="78740"/>
            <a:chOff x="1044470" y="7232763"/>
            <a:chExt cx="18101945" cy="78740"/>
          </a:xfrm>
        </p:grpSpPr>
        <p:sp>
          <p:nvSpPr>
            <p:cNvPr id="5" name="object 5"/>
            <p:cNvSpPr/>
            <p:nvPr/>
          </p:nvSpPr>
          <p:spPr>
            <a:xfrm>
              <a:off x="1044470" y="7299515"/>
              <a:ext cx="18101945" cy="0"/>
            </a:xfrm>
            <a:custGeom>
              <a:avLst/>
              <a:gdLst/>
              <a:ahLst/>
              <a:cxnLst/>
              <a:rect l="l" t="t" r="r" b="b"/>
              <a:pathLst>
                <a:path w="18101945" h="0">
                  <a:moveTo>
                    <a:pt x="0" y="0"/>
                  </a:moveTo>
                  <a:lnTo>
                    <a:pt x="18101544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46561" y="7244543"/>
              <a:ext cx="17873980" cy="0"/>
            </a:xfrm>
            <a:custGeom>
              <a:avLst/>
              <a:gdLst/>
              <a:ahLst/>
              <a:cxnLst/>
              <a:rect l="l" t="t" r="r" b="b"/>
              <a:pathLst>
                <a:path w="17873980" h="0">
                  <a:moveTo>
                    <a:pt x="0" y="0"/>
                  </a:moveTo>
                  <a:lnTo>
                    <a:pt x="17873802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005205" y="2513012"/>
            <a:ext cx="5717540" cy="86995"/>
            <a:chOff x="1005205" y="2513012"/>
            <a:chExt cx="5717540" cy="86995"/>
          </a:xfrm>
        </p:grpSpPr>
        <p:sp>
          <p:nvSpPr>
            <p:cNvPr id="8" name="object 8"/>
            <p:cNvSpPr/>
            <p:nvPr/>
          </p:nvSpPr>
          <p:spPr>
            <a:xfrm>
              <a:off x="1005205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 h="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8764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 h="0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240616" y="2513012"/>
            <a:ext cx="5701665" cy="86995"/>
            <a:chOff x="7240616" y="2513012"/>
            <a:chExt cx="5701665" cy="86995"/>
          </a:xfrm>
        </p:grpSpPr>
        <p:sp>
          <p:nvSpPr>
            <p:cNvPr id="11" name="object 11"/>
            <p:cNvSpPr/>
            <p:nvPr/>
          </p:nvSpPr>
          <p:spPr>
            <a:xfrm>
              <a:off x="7240616" y="2587617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 h="0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264176" y="2524792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 h="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3460322" y="2513012"/>
            <a:ext cx="5717540" cy="86995"/>
            <a:chOff x="13460322" y="2513012"/>
            <a:chExt cx="5717540" cy="86995"/>
          </a:xfrm>
        </p:grpSpPr>
        <p:sp>
          <p:nvSpPr>
            <p:cNvPr id="14" name="object 14"/>
            <p:cNvSpPr/>
            <p:nvPr/>
          </p:nvSpPr>
          <p:spPr>
            <a:xfrm>
              <a:off x="13460322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 h="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483882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 h="0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942379"/>
            <a:ext cx="94237" cy="7539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863" y="3047027"/>
            <a:ext cx="816729" cy="6596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7569" y="3047027"/>
            <a:ext cx="596840" cy="6596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4247" y="8465711"/>
            <a:ext cx="2528718" cy="84028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52980" y="3047027"/>
            <a:ext cx="675372" cy="643959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782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dirty="0" sz="5150" spc="204">
                <a:solidFill>
                  <a:srgbClr val="0177D4"/>
                </a:solidFill>
              </a:rPr>
              <a:t>Security</a:t>
            </a:r>
            <a:r>
              <a:rPr dirty="0" sz="5150" spc="235">
                <a:solidFill>
                  <a:srgbClr val="0177D4"/>
                </a:solidFill>
              </a:rPr>
              <a:t> </a:t>
            </a:r>
            <a:r>
              <a:rPr dirty="0" sz="5150" spc="195">
                <a:solidFill>
                  <a:srgbClr val="017EDF"/>
                </a:solidFill>
              </a:rPr>
              <a:t>and</a:t>
            </a:r>
            <a:r>
              <a:rPr dirty="0" sz="5150" spc="60">
                <a:solidFill>
                  <a:srgbClr val="017EDF"/>
                </a:solidFill>
              </a:rPr>
              <a:t> </a:t>
            </a:r>
            <a:r>
              <a:rPr dirty="0" sz="5150" spc="185">
                <a:solidFill>
                  <a:srgbClr val="0A75C3"/>
                </a:solidFill>
              </a:rPr>
              <a:t>Network</a:t>
            </a:r>
            <a:r>
              <a:rPr dirty="0" sz="5150" spc="290">
                <a:solidFill>
                  <a:srgbClr val="0A75C3"/>
                </a:solidFill>
              </a:rPr>
              <a:t> </a:t>
            </a:r>
            <a:r>
              <a:rPr dirty="0" sz="5150" spc="190">
                <a:solidFill>
                  <a:srgbClr val="0875CD"/>
                </a:solidFill>
              </a:rPr>
              <a:t>Architecture</a:t>
            </a:r>
            <a:endParaRPr sz="5150"/>
          </a:p>
        </p:txBody>
      </p:sp>
      <p:sp>
        <p:nvSpPr>
          <p:cNvPr id="22" name="object 22"/>
          <p:cNvSpPr txBox="1"/>
          <p:nvPr/>
        </p:nvSpPr>
        <p:spPr>
          <a:xfrm>
            <a:off x="1392179" y="4024480"/>
            <a:ext cx="3512185" cy="20739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 sz="2950" spc="105">
                <a:solidFill>
                  <a:srgbClr val="081F4D"/>
                </a:solidFill>
                <a:latin typeface="Arial MT"/>
                <a:cs typeface="Arial MT"/>
              </a:rPr>
              <a:t>Network</a:t>
            </a:r>
            <a:r>
              <a:rPr dirty="0" sz="2950" spc="90">
                <a:solidFill>
                  <a:srgbClr val="081F4D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113F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885" indent="-210185">
              <a:lnSpc>
                <a:spcPct val="100000"/>
              </a:lnSpc>
              <a:spcBef>
                <a:spcPts val="2220"/>
              </a:spcBef>
              <a:buClr>
                <a:srgbClr val="1F1F1F"/>
              </a:buClr>
              <a:buChar char="•"/>
              <a:tabLst>
                <a:tab pos="222885" algn="l"/>
              </a:tabLst>
            </a:pP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VNet</a:t>
            </a:r>
            <a:r>
              <a:rPr dirty="0" sz="2450" spc="-4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C1C1C"/>
                </a:solidFill>
                <a:latin typeface="Arial MT"/>
                <a:cs typeface="Arial MT"/>
              </a:rPr>
              <a:t>Segmentation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lr>
                <a:srgbClr val="2D2D2D"/>
              </a:buClr>
              <a:buChar char="•"/>
              <a:tabLst>
                <a:tab pos="215900" algn="l"/>
              </a:tabLst>
            </a:pP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Private</a:t>
            </a:r>
            <a:r>
              <a:rPr dirty="0" sz="2450" spc="-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62626"/>
                </a:solidFill>
                <a:latin typeface="Arial MT"/>
                <a:cs typeface="Arial MT"/>
              </a:rPr>
              <a:t>Endpoints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har char="•"/>
              <a:tabLst>
                <a:tab pos="215900" algn="l"/>
              </a:tabLst>
            </a:pPr>
            <a:r>
              <a:rPr dirty="0" sz="245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dirty="0" sz="2450" spc="5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DNS</a:t>
            </a:r>
            <a:r>
              <a:rPr dirty="0" sz="2450" spc="-8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32323"/>
                </a:solidFill>
                <a:latin typeface="Arial MT"/>
                <a:cs typeface="Arial MT"/>
              </a:rPr>
              <a:t>Resolution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7591" y="4016627"/>
            <a:ext cx="3242310" cy="20821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dirty="0" sz="2950" spc="114">
                <a:solidFill>
                  <a:srgbClr val="001C56"/>
                </a:solidFill>
                <a:latin typeface="Arial MT"/>
                <a:cs typeface="Arial MT"/>
              </a:rPr>
              <a:t>App</a:t>
            </a:r>
            <a:r>
              <a:rPr dirty="0" sz="2950" spc="25">
                <a:solidFill>
                  <a:srgbClr val="001C56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164D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2280"/>
              </a:spcBef>
              <a:buChar char="•"/>
              <a:tabLst>
                <a:tab pos="215265" algn="l"/>
              </a:tabLst>
            </a:pPr>
            <a:r>
              <a:rPr dirty="0" sz="2450">
                <a:solidFill>
                  <a:srgbClr val="2A2A2A"/>
                </a:solidFill>
                <a:latin typeface="Arial MT"/>
                <a:cs typeface="Arial MT"/>
              </a:rPr>
              <a:t>HTTPS</a:t>
            </a:r>
            <a:r>
              <a:rPr dirty="0" sz="2450" spc="-2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42424"/>
                </a:solidFill>
                <a:latin typeface="Arial MT"/>
                <a:cs typeface="Arial MT"/>
              </a:rPr>
              <a:t>Enforcement</a:t>
            </a:r>
            <a:endParaRPr sz="245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770"/>
              </a:spcBef>
              <a:buChar char="•"/>
              <a:tabLst>
                <a:tab pos="207645" algn="l"/>
              </a:tabLst>
            </a:pPr>
            <a:r>
              <a:rPr dirty="0" sz="2450">
                <a:solidFill>
                  <a:srgbClr val="2B2B2B"/>
                </a:solidFill>
                <a:latin typeface="Arial MT"/>
                <a:cs typeface="Arial MT"/>
              </a:rPr>
              <a:t>JWT</a:t>
            </a:r>
            <a:r>
              <a:rPr dirty="0" sz="2450" spc="-13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82828"/>
                </a:solidFill>
                <a:latin typeface="Arial MT"/>
                <a:cs typeface="Arial MT"/>
              </a:rPr>
              <a:t>Auth</a:t>
            </a:r>
            <a:r>
              <a:rPr dirty="0" sz="2450" spc="-2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42424"/>
                </a:solidFill>
                <a:latin typeface="Arial MT"/>
                <a:cs typeface="Arial MT"/>
              </a:rPr>
              <a:t>Integration</a:t>
            </a:r>
            <a:endParaRPr sz="2450">
              <a:latin typeface="Arial MT"/>
              <a:cs typeface="Arial MT"/>
            </a:endParaRPr>
          </a:p>
          <a:p>
            <a:pPr marL="212725" indent="-200025">
              <a:lnSpc>
                <a:spcPct val="100000"/>
              </a:lnSpc>
              <a:spcBef>
                <a:spcPts val="770"/>
              </a:spcBef>
              <a:buClr>
                <a:srgbClr val="2A2A2A"/>
              </a:buClr>
              <a:buChar char="•"/>
              <a:tabLst>
                <a:tab pos="212725" algn="l"/>
              </a:tabLst>
            </a:pPr>
            <a:r>
              <a:rPr dirty="0" sz="2450">
                <a:solidFill>
                  <a:srgbClr val="262626"/>
                </a:solidFill>
                <a:latin typeface="Arial MT"/>
                <a:cs typeface="Arial MT"/>
              </a:rPr>
              <a:t>WAF</a:t>
            </a:r>
            <a:r>
              <a:rPr dirty="0" sz="2450" spc="-6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Layer</a:t>
            </a:r>
            <a:r>
              <a:rPr dirty="0" sz="245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D2D2D"/>
                </a:solidFill>
                <a:latin typeface="Arial MT"/>
                <a:cs typeface="Arial MT"/>
              </a:rPr>
              <a:t>7</a:t>
            </a:r>
            <a:r>
              <a:rPr dirty="0" sz="2450" spc="-8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Filtering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8696" y="7621230"/>
            <a:ext cx="13432790" cy="2085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70">
                <a:solidFill>
                  <a:srgbClr val="002149"/>
                </a:solidFill>
                <a:latin typeface="Arial MT"/>
                <a:cs typeface="Arial MT"/>
              </a:rPr>
              <a:t>DevOps</a:t>
            </a:r>
            <a:r>
              <a:rPr dirty="0" sz="2950" spc="130">
                <a:solidFill>
                  <a:srgbClr val="002149"/>
                </a:solidFill>
                <a:latin typeface="Arial MT"/>
                <a:cs typeface="Arial MT"/>
              </a:rPr>
              <a:t> </a:t>
            </a:r>
            <a:r>
              <a:rPr dirty="0" sz="2950" spc="90">
                <a:solidFill>
                  <a:srgbClr val="00234F"/>
                </a:solidFill>
                <a:latin typeface="Arial MT"/>
                <a:cs typeface="Arial MT"/>
              </a:rPr>
              <a:t>Centric</a:t>
            </a:r>
            <a:r>
              <a:rPr dirty="0" sz="2950" spc="235">
                <a:solidFill>
                  <a:srgbClr val="00234F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215B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25" marR="5080" indent="-3810">
              <a:lnSpc>
                <a:spcPct val="121200"/>
              </a:lnSpc>
              <a:spcBef>
                <a:spcPts val="1530"/>
              </a:spcBef>
            </a:pPr>
            <a:r>
              <a:rPr dirty="0" sz="2550" spc="-20">
                <a:solidFill>
                  <a:srgbClr val="1F1F1F"/>
                </a:solidFill>
                <a:latin typeface="Arial MT"/>
                <a:cs typeface="Arial MT"/>
              </a:rPr>
              <a:t>Security</a:t>
            </a:r>
            <a:r>
              <a:rPr dirty="0" sz="2550" spc="-8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dirty="0" sz="2550" spc="-16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32323"/>
                </a:solidFill>
                <a:latin typeface="Arial MT"/>
                <a:cs typeface="Arial MT"/>
              </a:rPr>
              <a:t>integrated</a:t>
            </a:r>
            <a:r>
              <a:rPr dirty="0" sz="255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dirty="0" sz="2550" spc="-1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dirty="0" sz="2550" spc="-1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12121"/>
                </a:solidFill>
                <a:latin typeface="Arial MT"/>
                <a:cs typeface="Arial MT"/>
              </a:rPr>
              <a:t>Terraform</a:t>
            </a:r>
            <a:r>
              <a:rPr dirty="0" sz="25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232323"/>
                </a:solidFill>
                <a:latin typeface="Arial MT"/>
                <a:cs typeface="Arial MT"/>
              </a:rPr>
              <a:t>modules,</a:t>
            </a:r>
            <a:r>
              <a:rPr dirty="0" sz="2550" spc="-4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12121"/>
                </a:solidFill>
                <a:latin typeface="Arial MT"/>
                <a:cs typeface="Arial MT"/>
              </a:rPr>
              <a:t>ensuring</a:t>
            </a:r>
            <a:r>
              <a:rPr dirty="0" sz="2550" spc="-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dirty="0" sz="2550" spc="-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42424"/>
                </a:solidFill>
                <a:latin typeface="Arial MT"/>
                <a:cs typeface="Arial MT"/>
              </a:rPr>
              <a:t>every</a:t>
            </a:r>
            <a:r>
              <a:rPr dirty="0" sz="2550" spc="-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r>
              <a:rPr dirty="0" sz="2550" spc="4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12121"/>
                </a:solidFill>
                <a:latin typeface="Arial MT"/>
                <a:cs typeface="Arial MT"/>
              </a:rPr>
              <a:t>adheres</a:t>
            </a:r>
            <a:r>
              <a:rPr dirty="0" sz="2550" spc="-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1F1F1F"/>
                </a:solidFill>
                <a:latin typeface="Arial MT"/>
                <a:cs typeface="Arial MT"/>
              </a:rPr>
              <a:t>to </a:t>
            </a:r>
            <a:r>
              <a:rPr dirty="0" sz="2550" spc="-35">
                <a:solidFill>
                  <a:srgbClr val="181818"/>
                </a:solidFill>
                <a:latin typeface="Arial MT"/>
                <a:cs typeface="Arial MT"/>
              </a:rPr>
              <a:t>organizational</a:t>
            </a:r>
            <a:r>
              <a:rPr dirty="0" sz="2550" spc="-1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212121"/>
                </a:solidFill>
                <a:latin typeface="Arial MT"/>
                <a:cs typeface="Arial MT"/>
              </a:rPr>
              <a:t>compliance</a:t>
            </a:r>
            <a:r>
              <a:rPr dirty="0" sz="2550" spc="-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1F1F1F"/>
                </a:solidFill>
                <a:latin typeface="Arial MT"/>
                <a:cs typeface="Arial MT"/>
              </a:rPr>
              <a:t>standards</a:t>
            </a:r>
            <a:r>
              <a:rPr dirty="0" sz="2550" spc="-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1A1A1A"/>
                </a:solidFill>
                <a:latin typeface="Arial MT"/>
                <a:cs typeface="Arial MT"/>
              </a:rPr>
              <a:t>automatically.</a:t>
            </a:r>
            <a:r>
              <a:rPr dirty="0" sz="2550" spc="-1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62626"/>
                </a:solidFill>
                <a:latin typeface="Arial MT"/>
                <a:cs typeface="Arial MT"/>
              </a:rPr>
              <a:t>This</a:t>
            </a:r>
            <a:r>
              <a:rPr dirty="0" sz="2550" spc="-12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282828"/>
                </a:solidFill>
                <a:latin typeface="Arial MT"/>
                <a:cs typeface="Arial MT"/>
              </a:rPr>
              <a:t>"Shift-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Left"</a:t>
            </a:r>
            <a:r>
              <a:rPr dirty="0" sz="2550" spc="-1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1C1C1C"/>
                </a:solidFill>
                <a:latin typeface="Arial MT"/>
                <a:cs typeface="Arial MT"/>
              </a:rPr>
              <a:t>approach</a:t>
            </a:r>
            <a:r>
              <a:rPr dirty="0" sz="2550" spc="-3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1C1C1C"/>
                </a:solidFill>
                <a:latin typeface="Arial MT"/>
                <a:cs typeface="Arial MT"/>
              </a:rPr>
              <a:t>guarantees</a:t>
            </a:r>
            <a:r>
              <a:rPr dirty="0" sz="2550" spc="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D1D1D"/>
                </a:solidFill>
                <a:latin typeface="Arial MT"/>
                <a:cs typeface="Arial MT"/>
              </a:rPr>
              <a:t>secure </a:t>
            </a:r>
            <a:r>
              <a:rPr dirty="0" sz="2550" spc="-25">
                <a:solidFill>
                  <a:srgbClr val="232323"/>
                </a:solidFill>
                <a:latin typeface="Arial MT"/>
                <a:cs typeface="Arial MT"/>
              </a:rPr>
              <a:t>defaults</a:t>
            </a:r>
            <a:r>
              <a:rPr dirty="0" sz="2550" spc="-1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dirty="0" sz="2550" spc="-12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62626"/>
                </a:solidFill>
                <a:latin typeface="Arial MT"/>
                <a:cs typeface="Arial MT"/>
              </a:rPr>
              <a:t>every</a:t>
            </a:r>
            <a:r>
              <a:rPr dirty="0" sz="2550" spc="-12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1C1C1C"/>
                </a:solidFill>
                <a:latin typeface="Arial MT"/>
                <a:cs typeface="Arial MT"/>
              </a:rPr>
              <a:t>environment.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52304" y="4016627"/>
            <a:ext cx="3469640" cy="208533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25">
                <a:solidFill>
                  <a:srgbClr val="031F4F"/>
                </a:solidFill>
                <a:latin typeface="Arial MT"/>
                <a:cs typeface="Arial MT"/>
              </a:rPr>
              <a:t>Infra</a:t>
            </a:r>
            <a:r>
              <a:rPr dirty="0" sz="2950" spc="-140">
                <a:solidFill>
                  <a:srgbClr val="031F4F"/>
                </a:solidFill>
                <a:latin typeface="Arial MT"/>
                <a:cs typeface="Arial MT"/>
              </a:rPr>
              <a:t> </a:t>
            </a:r>
            <a:r>
              <a:rPr dirty="0" sz="2950" spc="95">
                <a:solidFill>
                  <a:srgbClr val="002364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05104" indent="-190500">
              <a:lnSpc>
                <a:spcPct val="100000"/>
              </a:lnSpc>
              <a:spcBef>
                <a:spcPts val="2180"/>
              </a:spcBef>
              <a:buClr>
                <a:srgbClr val="282828"/>
              </a:buClr>
              <a:buChar char="•"/>
              <a:tabLst>
                <a:tab pos="205104" algn="l"/>
              </a:tabLst>
            </a:pPr>
            <a:r>
              <a:rPr dirty="0" sz="2550" spc="-3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dirty="0" sz="2550" spc="-1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242424"/>
                </a:solidFill>
                <a:latin typeface="Arial MT"/>
                <a:cs typeface="Arial MT"/>
              </a:rPr>
              <a:t>Bastion</a:t>
            </a:r>
            <a:r>
              <a:rPr dirty="0" sz="2550" spc="-1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Arial MT"/>
                <a:cs typeface="Arial MT"/>
              </a:rPr>
              <a:t>Access</a:t>
            </a:r>
            <a:endParaRPr sz="2550">
              <a:latin typeface="Arial MT"/>
              <a:cs typeface="Arial MT"/>
            </a:endParaRPr>
          </a:p>
          <a:p>
            <a:pPr marL="218440" indent="-203835">
              <a:lnSpc>
                <a:spcPct val="100000"/>
              </a:lnSpc>
              <a:spcBef>
                <a:spcPts val="650"/>
              </a:spcBef>
              <a:buClr>
                <a:srgbClr val="1F1F1F"/>
              </a:buClr>
              <a:buChar char="•"/>
              <a:tabLst>
                <a:tab pos="218440" algn="l"/>
              </a:tabLst>
            </a:pPr>
            <a:r>
              <a:rPr dirty="0" sz="2550" spc="-165">
                <a:solidFill>
                  <a:srgbClr val="282828"/>
                </a:solidFill>
                <a:latin typeface="Arial MT"/>
                <a:cs typeface="Arial MT"/>
              </a:rPr>
              <a:t>NAT</a:t>
            </a:r>
            <a:r>
              <a:rPr dirty="0" sz="2550" spc="-1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242424"/>
                </a:solidFill>
                <a:latin typeface="Arial MT"/>
                <a:cs typeface="Arial MT"/>
              </a:rPr>
              <a:t>Gateway</a:t>
            </a:r>
            <a:r>
              <a:rPr dirty="0" sz="2550" spc="-6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212121"/>
                </a:solidFill>
                <a:latin typeface="Arial MT"/>
                <a:cs typeface="Arial MT"/>
              </a:rPr>
              <a:t>Egress</a:t>
            </a:r>
            <a:endParaRPr sz="2550">
              <a:latin typeface="Arial MT"/>
              <a:cs typeface="Arial MT"/>
            </a:endParaRPr>
          </a:p>
          <a:p>
            <a:pPr marL="217804" indent="-203200">
              <a:lnSpc>
                <a:spcPct val="100000"/>
              </a:lnSpc>
              <a:spcBef>
                <a:spcPts val="650"/>
              </a:spcBef>
              <a:buClr>
                <a:srgbClr val="2A2A2A"/>
              </a:buClr>
              <a:buChar char="•"/>
              <a:tabLst>
                <a:tab pos="217804" algn="l"/>
              </a:tabLst>
            </a:pPr>
            <a:r>
              <a:rPr dirty="0" sz="2550" spc="-30">
                <a:solidFill>
                  <a:srgbClr val="161616"/>
                </a:solidFill>
                <a:latin typeface="Arial MT"/>
                <a:cs typeface="Arial MT"/>
              </a:rPr>
              <a:t>Restricted</a:t>
            </a:r>
            <a:r>
              <a:rPr dirty="0" sz="2550" spc="-10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262626"/>
                </a:solidFill>
                <a:latin typeface="Arial MT"/>
                <a:cs typeface="Arial MT"/>
              </a:rPr>
              <a:t>DB</a:t>
            </a:r>
            <a:r>
              <a:rPr dirty="0" sz="2550" spc="-14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232323"/>
                </a:solidFill>
                <a:latin typeface="Arial MT"/>
                <a:cs typeface="Arial MT"/>
              </a:rPr>
              <a:t>Firewalls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63241" y="7169672"/>
            <a:ext cx="6997700" cy="20085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dirty="0" sz="13000" spc="-4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0" spc="-122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13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06" y="9423796"/>
            <a:ext cx="20088860" cy="377190"/>
            <a:chOff x="15706" y="9423796"/>
            <a:chExt cx="20088860" cy="377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9423796"/>
              <a:ext cx="20088393" cy="3769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9423796"/>
              <a:ext cx="20088393" cy="3769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92" y="821833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3792" y="694612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3792" y="567391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3792" y="440169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8497123"/>
            <a:ext cx="1413569" cy="7853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5952698"/>
            <a:ext cx="1413569" cy="785316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11616" sz="8250">
                <a:solidFill>
                  <a:srgbClr val="03BAEF"/>
                </a:solidFill>
              </a:rPr>
              <a:t>I</a:t>
            </a:r>
            <a:r>
              <a:rPr dirty="0" baseline="-11616" sz="8250" spc="1252">
                <a:solidFill>
                  <a:srgbClr val="03BAEF"/>
                </a:solidFill>
              </a:rPr>
              <a:t> </a:t>
            </a:r>
            <a:r>
              <a:rPr dirty="0" baseline="-14141" sz="8250" spc="-254">
                <a:solidFill>
                  <a:srgbClr val="0077D1"/>
                </a:solidFill>
              </a:rPr>
              <a:t>*</a:t>
            </a:r>
            <a:r>
              <a:rPr dirty="0" baseline="-2525" sz="8250" spc="-254">
                <a:solidFill>
                  <a:srgbClr val="0077D1"/>
                </a:solidFill>
              </a:rPr>
              <a:t>mage</a:t>
            </a:r>
            <a:r>
              <a:rPr dirty="0" baseline="-2525" sz="8250" spc="-832">
                <a:solidFill>
                  <a:srgbClr val="0077D1"/>
                </a:solidFill>
              </a:rPr>
              <a:t> </a:t>
            </a:r>
            <a:r>
              <a:rPr dirty="0" sz="5500" spc="-10"/>
              <a:t>Sources</a:t>
            </a:r>
            <a:endParaRPr sz="5500"/>
          </a:p>
        </p:txBody>
      </p:sp>
      <p:sp>
        <p:nvSpPr>
          <p:cNvPr id="9" name="object 9"/>
          <p:cNvSpPr txBox="1"/>
          <p:nvPr/>
        </p:nvSpPr>
        <p:spPr>
          <a:xfrm>
            <a:off x="1521639" y="3426986"/>
            <a:ext cx="1930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5">
                <a:solidFill>
                  <a:srgbClr val="975B77"/>
                </a:solidFill>
                <a:latin typeface="Arial MT"/>
                <a:cs typeface="Arial MT"/>
              </a:rPr>
              <a:t>_”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8671" y="3328036"/>
            <a:ext cx="8964930" cy="77851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https://learn.microsoft.com/en-us/azure/architecture/example-scenario/aks-agic/media/aks-</a:t>
            </a:r>
            <a:r>
              <a:rPr dirty="0" sz="1550" spc="-1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agic.svg</a:t>
            </a:r>
            <a:endParaRPr sz="15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005"/>
              </a:spcBef>
            </a:pPr>
            <a:r>
              <a:rPr dirty="0" sz="190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dirty="0" sz="1900" spc="17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744BA"/>
                </a:solidFill>
                <a:latin typeface="Arial MT"/>
                <a:cs typeface="Arial MT"/>
              </a:rPr>
              <a:t>learn.microsoft.com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3729" y="3786268"/>
            <a:ext cx="5435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35">
                <a:solidFill>
                  <a:srgbClr val="7CBFFF"/>
                </a:solidFill>
                <a:latin typeface="Arial MT"/>
                <a:cs typeface="Arial MT"/>
              </a:rPr>
              <a:t>"</a:t>
            </a:r>
            <a:r>
              <a:rPr dirty="0" sz="1900" spc="-35">
                <a:solidFill>
                  <a:srgbClr val="AFAFAF"/>
                </a:solidFill>
                <a:latin typeface="Arial MT"/>
                <a:cs typeface="Arial MT"/>
              </a:rPr>
              <a:t>-</a:t>
            </a:r>
            <a:r>
              <a:rPr dirty="0" sz="1900">
                <a:solidFill>
                  <a:srgbClr val="AFAFAF"/>
                </a:solidFill>
                <a:latin typeface="Arial MT"/>
                <a:cs typeface="Arial MT"/>
              </a:rPr>
              <a:t>°,</a:t>
            </a:r>
            <a:r>
              <a:rPr dirty="0" sz="1900" spc="47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AFAFAF"/>
                </a:solidFill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0171" y="4610073"/>
            <a:ext cx="2261870" cy="89725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90"/>
              </a:spcBef>
              <a:tabLst>
                <a:tab pos="325755" algn="l"/>
              </a:tabLst>
            </a:pPr>
            <a:r>
              <a:rPr dirty="0" sz="1650" spc="-50">
                <a:solidFill>
                  <a:srgbClr val="212121"/>
                </a:solidFill>
                <a:latin typeface="Arial MT"/>
                <a:cs typeface="Arial MT"/>
              </a:rPr>
              <a:t>“</a:t>
            </a:r>
            <a:r>
              <a:rPr dirty="0" sz="165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dirty="0" sz="1650" spc="390">
                <a:solidFill>
                  <a:srgbClr val="212121"/>
                </a:solidFill>
                <a:latin typeface="Arial MT"/>
                <a:cs typeface="Arial MT"/>
              </a:rPr>
              <a:t>Thumbnail</a:t>
            </a:r>
            <a:endParaRPr sz="165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330"/>
              </a:spcBef>
              <a:tabLst>
                <a:tab pos="2136775" algn="l"/>
              </a:tabLst>
            </a:pPr>
            <a:r>
              <a:rPr dirty="0" sz="2050" spc="8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dirty="0" baseline="-13333" sz="1875" spc="120">
                <a:solidFill>
                  <a:srgbClr val="212121"/>
                </a:solidFill>
                <a:latin typeface="Arial MT"/>
                <a:cs typeface="Arial MT"/>
              </a:rPr>
              <a:t>£</a:t>
            </a:r>
            <a:r>
              <a:rPr dirty="0" baseline="-13333" sz="1875" spc="-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baseline="-13333" sz="1875" spc="89">
                <a:solidFill>
                  <a:srgbClr val="212121"/>
                </a:solidFill>
                <a:latin typeface="Arial MT"/>
                <a:cs typeface="Arial MT"/>
              </a:rPr>
              <a:t>'</a:t>
            </a:r>
            <a:r>
              <a:rPr dirty="0" baseline="-11111" sz="1875" spc="89">
                <a:solidFill>
                  <a:srgbClr val="212121"/>
                </a:solidFill>
                <a:latin typeface="Arial MT"/>
                <a:cs typeface="Arial MT"/>
              </a:rPr>
              <a:t>¿</a:t>
            </a:r>
            <a:r>
              <a:rPr dirty="0" baseline="-8417" sz="2475" spc="89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dirty="0" baseline="-6775" sz="3075" spc="89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dirty="0" sz="2050" spc="60">
                <a:solidFill>
                  <a:srgbClr val="212121"/>
                </a:solidFill>
                <a:latin typeface="Arial MT"/>
                <a:cs typeface="Arial MT"/>
              </a:rPr>
              <a:t>n.</a:t>
            </a:r>
            <a:r>
              <a:rPr dirty="0" sz="2050" spc="-2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050" spc="170">
                <a:solidFill>
                  <a:srgbClr val="1F1F1F"/>
                </a:solidFill>
                <a:latin typeface="Arial MT"/>
                <a:cs typeface="Arial MT"/>
              </a:rPr>
              <a:t>micros</a:t>
            </a:r>
            <a:r>
              <a:rPr dirty="0" sz="205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dirty="0" sz="2050" spc="45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2179" y="4682837"/>
            <a:ext cx="893127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35">
                <a:solidFill>
                  <a:srgbClr val="181818"/>
                </a:solidFill>
                <a:latin typeface="Arial MT"/>
                <a:cs typeface="Arial MT"/>
              </a:rPr>
              <a:t>://learn.microsoft.com/en-us/azure/architecture/icons/images/baseline-app-service-</a:t>
            </a:r>
            <a:r>
              <a:rPr dirty="0" sz="1650" spc="-10">
                <a:solidFill>
                  <a:srgbClr val="181818"/>
                </a:solidFill>
                <a:latin typeface="Arial MT"/>
                <a:cs typeface="Arial MT"/>
              </a:rPr>
              <a:t>architecture.svg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9395" y="5042120"/>
            <a:ext cx="221805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">
                <a:solidFill>
                  <a:srgbClr val="1F1F1F"/>
                </a:solidFill>
                <a:latin typeface="Arial MT"/>
                <a:cs typeface="Arial MT"/>
              </a:rPr>
              <a:t>learn.microsoft.com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7822" y="7265874"/>
            <a:ext cx="521970" cy="771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-70">
                <a:solidFill>
                  <a:srgbClr val="1367A1"/>
                </a:solidFill>
                <a:latin typeface="Trebuchet MS"/>
                <a:cs typeface="Trebuchet MS"/>
              </a:rPr>
              <a:t>'O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8671" y="5890916"/>
            <a:ext cx="7638415" cy="76327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https://cdn.jsdeIivr.net/gh/homarr-labs/dashboard-icons/png/hashicorp-</a:t>
            </a:r>
            <a:r>
              <a:rPr dirty="0" sz="1550" spc="-1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terraform.png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855"/>
              </a:spcBef>
            </a:pPr>
            <a:r>
              <a:rPr dirty="0" sz="2050" spc="-4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dirty="0" sz="2050" spc="-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5A0F2"/>
                </a:solidFill>
                <a:latin typeface="Arial MT"/>
                <a:cs typeface="Arial MT"/>
              </a:rPr>
              <a:t>dashboardicons.com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8671" y="7163129"/>
            <a:ext cx="8398510" cy="76327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https://www.slideegg.com/image/catalog/20627-cyber-security-powerpoint-template-</a:t>
            </a:r>
            <a:r>
              <a:rPr dirty="0" sz="1550" spc="-1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blue.png</a:t>
            </a:r>
            <a:endParaRPr sz="1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dirty="0" sz="2050">
                <a:solidFill>
                  <a:srgbClr val="242424"/>
                </a:solidFill>
                <a:latin typeface="Arial MT"/>
                <a:cs typeface="Arial MT"/>
              </a:rPr>
              <a:t>source:</a:t>
            </a:r>
            <a:r>
              <a:rPr dirty="0" sz="205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D52D4"/>
                </a:solidFill>
                <a:latin typeface="Arial MT"/>
                <a:cs typeface="Arial MT"/>
                <a:hlinkClick r:id="rId7"/>
              </a:rPr>
              <a:t>www.sIideegg.com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7592" y="8432415"/>
            <a:ext cx="10586720" cy="76962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650" spc="-5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https://site-cdn.core.nytro.ai/static/media/0d7d1ba7-</a:t>
            </a:r>
            <a:r>
              <a:rPr dirty="0" sz="1650" spc="-55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ab56-4dbe-bc7a-</a:t>
            </a:r>
            <a:r>
              <a:rPr dirty="0" sz="1650" spc="-3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e14d91817abf.jpeg?_cb=1695736567.4629567</a:t>
            </a:r>
            <a:endParaRPr sz="165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685"/>
              </a:spcBef>
            </a:pPr>
            <a:r>
              <a:rPr dirty="0" sz="2200" spc="-105">
                <a:solidFill>
                  <a:srgbClr val="1C1C1C"/>
                </a:solidFill>
                <a:latin typeface="Trebuchet MS"/>
                <a:cs typeface="Trebuchet MS"/>
              </a:rPr>
              <a:t>Source:</a:t>
            </a:r>
            <a:r>
              <a:rPr dirty="0" sz="2200" spc="-3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200" spc="-105">
                <a:solidFill>
                  <a:srgbClr val="4D48C8"/>
                </a:solidFill>
                <a:latin typeface="Trebuchet MS"/>
                <a:cs typeface="Trebuchet MS"/>
              </a:rPr>
              <a:t>infohub.deIItechnoIogies.com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2026-06-09T15:43:17Z</dcterms:created>
  <dcterms:modified xsi:type="dcterms:W3CDTF">2026-06-09T15:43:17Z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LastSaved">
    <vt:filetime>2026-06-09T00:00:00Z</vt:filetime>
  </property>
</Properties>
</file>